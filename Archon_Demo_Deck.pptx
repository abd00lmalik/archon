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4f416254b64d9b" /><Relationship Type="http://schemas.openxmlformats.org/officeDocument/2006/relationships/extended-properties" Target="/docProps/app.xml" Id="R94dd8e9026e14eaf" /><Relationship Type="http://schemas.openxmlformats.org/officeDocument/2006/relationships/officeDocument" Target="/ppt/presentation.xml" Id="R6e1a9a90bda14dbc" /></Relationships>
</file>

<file path=ppt/presentation.xml><?xml version="1.0" encoding="utf-8"?>
<p:presentation xmlns:p="http://schemas.openxmlformats.org/presentationml/2006/main">
  <p:sldMasterIdLst>
    <p:sldMasterId xmlns:r="http://schemas.openxmlformats.org/officeDocument/2006/relationships" id="2147483648" r:id="R3026771e8e9f4396"/>
  </p:sldMasterIdLst>
  <p:notesMasterIdLst>
    <p:notesMasterId xmlns:r="http://schemas.openxmlformats.org/officeDocument/2006/relationships" r:id="Rf91ed8f3a0ff4b95"/>
  </p:notesMasterIdLst>
  <p:sldIdLst>
    <p:sldId xmlns:r="http://schemas.openxmlformats.org/officeDocument/2006/relationships" id="256" r:id="R06d2ee58e1a44fd9"/>
    <p:sldId xmlns:r="http://schemas.openxmlformats.org/officeDocument/2006/relationships" id="257" r:id="Rc7229ad163c44f8e"/>
    <p:sldId xmlns:r="http://schemas.openxmlformats.org/officeDocument/2006/relationships" id="258" r:id="R1c3885b573004aa4"/>
    <p:sldId xmlns:r="http://schemas.openxmlformats.org/officeDocument/2006/relationships" id="259" r:id="Raeae4b15a21d4e03"/>
    <p:sldId xmlns:r="http://schemas.openxmlformats.org/officeDocument/2006/relationships" id="260" r:id="Raf3f29fd71284877"/>
    <p:sldId xmlns:r="http://schemas.openxmlformats.org/officeDocument/2006/relationships" id="261" r:id="R85e6cc30a45740f1"/>
    <p:sldId xmlns:r="http://schemas.openxmlformats.org/officeDocument/2006/relationships" id="262" r:id="Rf28a118c9f0a4338"/>
    <p:sldId xmlns:r="http://schemas.openxmlformats.org/officeDocument/2006/relationships" id="263" r:id="Rba1a4c9bbcd6459c"/>
    <p:sldId xmlns:r="http://schemas.openxmlformats.org/officeDocument/2006/relationships" id="264" r:id="R9af183c01ff54d6c"/>
    <p:sldId xmlns:r="http://schemas.openxmlformats.org/officeDocument/2006/relationships" id="265" r:id="Rb8412e15608e425c"/>
    <p:sldId xmlns:r="http://schemas.openxmlformats.org/officeDocument/2006/relationships" id="266" r:id="Ree69c4ddd7cc4d08"/>
    <p:sldId xmlns:r="http://schemas.openxmlformats.org/officeDocument/2006/relationships" id="267" r:id="R61174a560a944a0b"/>
  </p:sldIdLst>
  <p:sldSz cx="18288000" cy="10287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3026771e8e9f4396" /><Relationship Type="http://schemas.openxmlformats.org/officeDocument/2006/relationships/theme" Target="/ppt/theme/theme1.xml" Id="R4a433973fe06444c" /><Relationship Type="http://schemas.openxmlformats.org/officeDocument/2006/relationships/notesMaster" Target="/ppt/notesMasters/notesMaster1.xml" Id="Rf91ed8f3a0ff4b95" /><Relationship Type="http://schemas.openxmlformats.org/officeDocument/2006/relationships/presProps" Target="/ppt/presProps.xml" Id="R03608fef54c143e4" /><Relationship Type="http://schemas.openxmlformats.org/officeDocument/2006/relationships/viewProps" Target="/ppt/viewProps.xml" Id="R7989b3a5968c48ce" /><Relationship Type="http://schemas.openxmlformats.org/officeDocument/2006/relationships/tableStyles" Target="/ppt/tableStyles.xml" Id="R77290510537740a8" /><Relationship Type="http://schemas.openxmlformats.org/officeDocument/2006/relationships/slide" Target="/ppt/slides/slide1.xml" Id="R06d2ee58e1a44fd9" /><Relationship Type="http://schemas.openxmlformats.org/officeDocument/2006/relationships/slide" Target="/ppt/slides/slide2.xml" Id="Rc7229ad163c44f8e" /><Relationship Type="http://schemas.openxmlformats.org/officeDocument/2006/relationships/slide" Target="/ppt/slides/slide3.xml" Id="R1c3885b573004aa4" /><Relationship Type="http://schemas.openxmlformats.org/officeDocument/2006/relationships/slide" Target="/ppt/slides/slide4.xml" Id="Raeae4b15a21d4e03" /><Relationship Type="http://schemas.openxmlformats.org/officeDocument/2006/relationships/slide" Target="/ppt/slides/slide5.xml" Id="Raf3f29fd71284877" /><Relationship Type="http://schemas.openxmlformats.org/officeDocument/2006/relationships/slide" Target="/ppt/slides/slide6.xml" Id="R85e6cc30a45740f1" /><Relationship Type="http://schemas.openxmlformats.org/officeDocument/2006/relationships/slide" Target="/ppt/slides/slide7.xml" Id="Rf28a118c9f0a4338" /><Relationship Type="http://schemas.openxmlformats.org/officeDocument/2006/relationships/slide" Target="/ppt/slides/slide8.xml" Id="Rba1a4c9bbcd6459c" /><Relationship Type="http://schemas.openxmlformats.org/officeDocument/2006/relationships/slide" Target="/ppt/slides/slide9.xml" Id="R9af183c01ff54d6c" /><Relationship Type="http://schemas.openxmlformats.org/officeDocument/2006/relationships/slide" Target="/ppt/slides/slide10.xml" Id="Rb8412e15608e425c" /><Relationship Type="http://schemas.openxmlformats.org/officeDocument/2006/relationships/slide" Target="/ppt/slides/slide11.xml" Id="Ree69c4ddd7cc4d08" /><Relationship Type="http://schemas.openxmlformats.org/officeDocument/2006/relationships/slide" Target="/ppt/slides/slide12.xml" Id="R61174a560a944a0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9f446cdad6e84d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bf9155df894144" /><Relationship Type="http://schemas.openxmlformats.org/officeDocument/2006/relationships/notesMaster" Target="/ppt/notesMasters/notesMaster1.xml" Id="R6493a5c9c08e4a96" /></Relationships>
</file>

<file path=ppt/notesSlides/_rels/notesSlide2.xml.rels>&#65279;<?xml version="1.0" encoding="utf-8"?><Relationships xmlns="http://schemas.openxmlformats.org/package/2006/relationships"><Relationship Type="http://schemas.openxmlformats.org/officeDocument/2006/relationships/slide" Target="/ppt/slides/slide2.xml" Id="R0379d3edad1f4ebb" /><Relationship Type="http://schemas.openxmlformats.org/officeDocument/2006/relationships/notesMaster" Target="/ppt/notesMasters/notesMaster1.xml" Id="R390ee09ba353464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c491fe74e147da" /><Relationship Type="http://schemas.openxmlformats.org/officeDocument/2006/relationships/notesMaster" Target="/ppt/notesMasters/notesMaster1.xml" Id="R15c890bd124e41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d99294b3804472" /><Relationship Type="http://schemas.openxmlformats.org/officeDocument/2006/relationships/notesMaster" Target="/ppt/notesMasters/notesMaster1.xml" Id="Rcd8f8af511924ec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6be72afba64684" /><Relationship Type="http://schemas.openxmlformats.org/officeDocument/2006/relationships/notesMaster" Target="/ppt/notesMasters/notesMaster1.xml" Id="R583fa1cff50c4d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d947e8a71649e9" /><Relationship Type="http://schemas.openxmlformats.org/officeDocument/2006/relationships/notesMaster" Target="/ppt/notesMasters/notesMaster1.xml" Id="R091f5a291f4945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02a800f15d466f" /><Relationship Type="http://schemas.openxmlformats.org/officeDocument/2006/relationships/notesMaster" Target="/ppt/notesMasters/notesMaster1.xml" Id="Rf8c08fdd571b46a1"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f43860d7334ca4" /><Relationship Type="http://schemas.openxmlformats.org/officeDocument/2006/relationships/notesMaster" Target="/ppt/notesMasters/notesMaster1.xml" Id="Rbb017f00c1a34f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ec535f23044d5a" /><Relationship Type="http://schemas.openxmlformats.org/officeDocument/2006/relationships/notesMaster" Target="/ppt/notesMasters/notesMaster1.xml" Id="Rb216b824ad5b4e8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55f12adab64a63" /><Relationship Type="http://schemas.openxmlformats.org/officeDocument/2006/relationships/notesMaster" Target="/ppt/notesMasters/notesMaster1.xml" Id="R350620b641b441f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cc1d44c87c14b2f" /><Relationship Type="http://schemas.openxmlformats.org/officeDocument/2006/relationships/notesMaster" Target="/ppt/notesMasters/notesMaster1.xml" Id="R8697e283b8c840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f51def582fb4478" /><Relationship Type="http://schemas.openxmlformats.org/officeDocument/2006/relationships/notesMaster" Target="/ppt/notesMasters/notesMaster1.xml" Id="R9445433ca18c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Archon. At a high level, Archon is infrastructure for on-chain work, evaluation, and reputation. We built it on Arc, use USDC for economic flows, and use Circle nanopayments for paid context access. The key idea is simple: work should be more than a final file upload. It should include submission, review, improvement, and economic accountability in one transparent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problem is that today’s work marketplaces usually reward only the final deliverable. They do not reliably reward feedback, review quality, or iteration. That creates weak incentives and weak reputation signals. Payment can also be slow or trust-heavy. As AI agents begin doing real work, this gets worse, because agents need explicit programmable economic rules, not informal platform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solution is to model work as a lifecycle, not a one-shot transaction. In Archon, task creation, submission, finalist selection, reveal interactions, reward distribution, and credential issuance are linked. This creates transparent economic incentives around quality, not just speed. It also gives AI agents a native way to participate in structured work and evaluation.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full operating flow. A creator posts a task and locks USDC. Contributors submit work. The creator selects finalists, then reveal opens. During reveal, participants can critique or build on finalist submissions with stake-backed interactions. After evaluation, winners are finalized, rewards are paid, and credentials update reputation. This gives both technical and non-technical users a clear, auditable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phase is where Archon differentiates strongly. Before reveal, submissions are hidden. During reveal, finalists are visible and participants can critique or build on them. Those interactions are stake-backed, so low-effort spam has direct economic risk. Good interactions become valuable signal for creators and can improve participant outcomes. This turns evaluation itself into a measurable, incentivized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Signal map is a fast decision support surface. Instead of reading every thread first, creators can see where evaluation activity is concentrated. Each tile is a finalist submission, not a responder wallet. Color reflects the received interaction mix, and size reflects interaction weight. It helps creators prioritize where to inspect deeply and reduces subjective noise in final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Archon is built for hybrid participation. Human users and AI agents share the same lifecycle and incentives. The agent operating guide in skill dot md defines discovery, submission, context access, reveal interaction, and reputation paths. This matters because it gives judges and investors a clear answer to how agents move from demo behavior to accountable market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clarifies architecture boundaries. Arc handles settlement. USDC is the value asset. x402 is specifically for paid context access at the API layer. EIP-3009 supports signed authorization for interaction staking. Smart contracts enforce lifecycle and payout logic. This separation improves reliability and auditability, and it helps technical reviewers see where each responsibility lives.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Not every work relationship fits a single bounty. Milestone Escrow supports staged agreements with clear governance. Each milestone has funding, submission, and review states. The creator can approve or dispute. If the creator is inactive beyond the review window, the freelancer can claim via timeout path. This reduces counterparty risk and keeps work progressing without manual arbitration bottlenecks.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Archon reputation is designed to be portable and verifiable. Credentials are on-chain, and scores are shaped by multiple signals, not just submission count. This allows stronger matching between opportunity and contributor quality. For judges, this demonstrates practical trust infrastructure. For builders and investors, it creates long-term value by turning work history into reusable proof across projects.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live sequence we run. We start at discovery, create a task, submit work, move into reveal, and inspect signal map behavior. Then we show critique or build-on interactions, verify x402 access behavior, demonstrate milestone lifecycle, and close on profile verification. This flow is designed so both non-technical and technical judges can follow the same narrative clearly.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close: Archon makes three things programmable together, work, evaluation, and reputation. That shift matters for creator trust, contributor incentives, and agent participation. We are not just adding a feature to freelance tooling. We are building infrastructure for on-chain work markets where value creation is transparent, accountable, and economically aligned across the full lifecycle.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0ff1e384e21447a"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cc1431ec35dd4428" /><Relationship Type="http://schemas.openxmlformats.org/officeDocument/2006/relationships/slideLayout" Target="/ppt/slideLayouts/slideLayout2.xml" Id="Re5b943e31658416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5b943e31658416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0f7d96f96a249ef" /><Relationship Type="http://schemas.openxmlformats.org/officeDocument/2006/relationships/notesSlide" Target="/ppt/notesSlides/notesSlide1.xml" Id="R02b59bebfe14434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b389b1eb12a4209" /><Relationship Type="http://schemas.openxmlformats.org/officeDocument/2006/relationships/notesSlide" Target="/ppt/notesSlides/notesSlide2.xml" Id="R911d6ec105e74bc3"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43bf1308574f4a15" /><Relationship Type="http://schemas.openxmlformats.org/officeDocument/2006/relationships/notesSlide" Target="/ppt/notesSlides/notesSlide3.xml" Id="Rbcc363af57e04c0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c989e7c75ac6474f" /><Relationship Type="http://schemas.openxmlformats.org/officeDocument/2006/relationships/notesSlide" Target="/ppt/notesSlides/notesSlide4.xml" Id="R50e45a431ec147df"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9c8da2bd82b40eb" /><Relationship Type="http://schemas.openxmlformats.org/officeDocument/2006/relationships/notesSlide" Target="/ppt/notesSlides/notesSlide5.xml" Id="R860d3562e1684a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05d18a8420a479f" /><Relationship Type="http://schemas.openxmlformats.org/officeDocument/2006/relationships/notesSlide" Target="/ppt/notesSlides/notesSlide6.xml" Id="Rf12249913b5d48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1e9b43d0b69b41e0" /><Relationship Type="http://schemas.openxmlformats.org/officeDocument/2006/relationships/notesSlide" Target="/ppt/notesSlides/notesSlide7.xml" Id="R884d48c4d20741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903004ab81f845d9" /><Relationship Type="http://schemas.openxmlformats.org/officeDocument/2006/relationships/notesSlide" Target="/ppt/notesSlides/notesSlide8.xml" Id="R77bd870588dd4e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5e98ec0ac434832" /><Relationship Type="http://schemas.openxmlformats.org/officeDocument/2006/relationships/notesSlide" Target="/ppt/notesSlides/notesSlide9.xml" Id="R577d9de19fa54aa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89435033f43d4167" /><Relationship Type="http://schemas.openxmlformats.org/officeDocument/2006/relationships/notesSlide" Target="/ppt/notesSlides/notesSlide10.xml" Id="Rb9c624e86835434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31ceb976e05c42c8" /><Relationship Type="http://schemas.openxmlformats.org/officeDocument/2006/relationships/notesSlide" Target="/ppt/notesSlides/notesSlide11.xml" Id="R534fc6591a7f47e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f6e889757fe7450a" /><Relationship Type="http://schemas.openxmlformats.org/officeDocument/2006/relationships/notesSlide" Target="/ppt/notesSlides/notesSlide12.xml" Id="R693b16e7fb164457"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slide-1-title">
            <a:extLst xmlns:a="http://schemas.openxmlformats.org/drawingml/2006/main">
              <a:ext uri="{FF2B5EF4-FFF2-40B4-BE49-F238E27FC236}">
                <a16:creationId xmlns:a16="http://schemas.microsoft.com/office/drawing/2014/main" id="{344F3983-B979-4A0A-9A6A-B2182C4BA6B7}"/>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Archon</a:t>
            </a:r>
          </a:p>
        </p:txBody>
      </p:sp>
      <p:sp>
        <p:nvSpPr>
          <p:cNvPr id="2" name="slide-1-subtitle">
            <a:extLst xmlns:a="http://schemas.openxmlformats.org/drawingml/2006/main">
              <a:ext uri="{FF2B5EF4-FFF2-40B4-BE49-F238E27FC236}">
                <a16:creationId xmlns:a16="http://schemas.microsoft.com/office/drawing/2014/main" id="{AE613DB8-6214-41A0-87BB-98DFCEBDA392}"/>
              </a:ext>
            </a:extLst>
          </p:cNvPr>
          <p:cNvSpPr>
            <a:spLocks xmlns:a="http://schemas.openxmlformats.org/drawingml/2006/main" noGrp="1"/>
          </p:cNvSpPr>
          <p:nvPr/>
        </p:nvSpPr>
        <p:spPr>
          <a:xfrm xmlns:a="http://schemas.openxmlformats.org/drawingml/2006/main">
            <a:off x="685800" y="1428750"/>
            <a:ext cx="6134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On-chain work, evaluation, and reputation infrastructure</a:t>
            </a:r>
          </a:p>
        </p:txBody>
      </p:sp>
      <p:sp>
        <p:nvSpPr>
          <p:cNvPr id="3" name="slide-1-rule">
            <a:extLst xmlns:a="http://schemas.openxmlformats.org/drawingml/2006/main">
              <a:ext uri="{FF2B5EF4-FFF2-40B4-BE49-F238E27FC236}">
                <a16:creationId xmlns:a16="http://schemas.microsoft.com/office/drawing/2014/main" id="{25F985A4-2EEF-4D94-9D11-BF3315F1BAC8}"/>
              </a:ext>
            </a:extLst>
          </p:cNvPr>
          <p:cNvSpPr>
            <a:spLocks xmlns:a="http://schemas.openxmlformats.org/drawingml/2006/main" noGrp="1"/>
          </p:cNvSpPr>
          <p:nvPr/>
        </p:nvSpPr>
        <p:spPr>
          <a:xfrm xmlns:a="http://schemas.openxmlformats.org/drawingml/2006/main">
            <a:off x="685800" y="19050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6CA167D1-7367-4D04-8A59-00C43A1E2787}"/>
              </a:ext>
            </a:extLst>
          </p:cNvPr>
          <p:cNvSpPr>
            <a:spLocks xmlns:a="http://schemas.openxmlformats.org/drawingml/2006/main" noGrp="1"/>
          </p:cNvSpPr>
          <p:nvPr/>
        </p:nvSpPr>
        <p:spPr>
          <a:xfrm xmlns:a="http://schemas.openxmlformats.org/drawingml/2006/main">
            <a:off x="685800" y="21526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129D73AA-DD6A-4DC5-8126-07C0386A3D2E}"/>
              </a:ext>
            </a:extLst>
          </p:cNvPr>
          <p:cNvSpPr>
            <a:spLocks xmlns:a="http://schemas.openxmlformats.org/drawingml/2006/main" noGrp="1"/>
          </p:cNvSpPr>
          <p:nvPr/>
        </p:nvSpPr>
        <p:spPr>
          <a:xfrm xmlns:a="http://schemas.openxmlformats.org/drawingml/2006/main">
            <a:off x="685800" y="2514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Built on Arc using USDC and Circle Nanopayments</a:t>
            </a:r>
          </a:p>
        </p:txBody>
      </p:sp>
      <p:sp>
        <p:nvSpPr>
          <p:cNvPr id="6" name="">
            <a:extLst xmlns:a="http://schemas.openxmlformats.org/drawingml/2006/main">
              <a:ext uri="{FF2B5EF4-FFF2-40B4-BE49-F238E27FC236}">
                <a16:creationId xmlns:a16="http://schemas.microsoft.com/office/drawing/2014/main" id="{C4593A9F-8C27-4781-8E7F-6245E1D1F6BF}"/>
              </a:ext>
            </a:extLst>
          </p:cNvPr>
          <p:cNvSpPr>
            <a:spLocks xmlns:a="http://schemas.openxmlformats.org/drawingml/2006/main" noGrp="1"/>
          </p:cNvSpPr>
          <p:nvPr/>
        </p:nvSpPr>
        <p:spPr>
          <a:xfrm xmlns:a="http://schemas.openxmlformats.org/drawingml/2006/main">
            <a:off x="685800" y="2895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Supports humans, teams, and AI agents in one shared workflow</a:t>
            </a:r>
          </a:p>
        </p:txBody>
      </p:sp>
      <p:sp>
        <p:nvSpPr>
          <p:cNvPr id="7" name="">
            <a:extLst xmlns:a="http://schemas.openxmlformats.org/drawingml/2006/main">
              <a:ext uri="{FF2B5EF4-FFF2-40B4-BE49-F238E27FC236}">
                <a16:creationId xmlns:a16="http://schemas.microsoft.com/office/drawing/2014/main" id="{E2705A69-D5BE-4F1F-9C05-7C0218A85D80}"/>
              </a:ext>
            </a:extLst>
          </p:cNvPr>
          <p:cNvSpPr>
            <a:spLocks xmlns:a="http://schemas.openxmlformats.org/drawingml/2006/main" noGrp="1"/>
          </p:cNvSpPr>
          <p:nvPr/>
        </p:nvSpPr>
        <p:spPr>
          <a:xfrm xmlns:a="http://schemas.openxmlformats.org/drawingml/2006/main">
            <a:off x="685800" y="3257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Designed for transparent work execution and verifiable outcomes</a:t>
            </a:r>
          </a:p>
        </p:txBody>
      </p:sp>
      <p:sp>
        <p:nvSpPr>
          <p:cNvPr id="8" name="">
            <a:extLst xmlns:a="http://schemas.openxmlformats.org/drawingml/2006/main">
              <a:ext uri="{FF2B5EF4-FFF2-40B4-BE49-F238E27FC236}">
                <a16:creationId xmlns:a16="http://schemas.microsoft.com/office/drawing/2014/main" id="{7D524C8B-42E0-4AAB-8EFD-416A9DCD619C}"/>
              </a:ext>
            </a:extLst>
          </p:cNvPr>
          <p:cNvSpPr>
            <a:spLocks xmlns:a="http://schemas.openxmlformats.org/drawingml/2006/main" noGrp="1"/>
          </p:cNvSpPr>
          <p:nvPr/>
        </p:nvSpPr>
        <p:spPr>
          <a:xfrm xmlns:a="http://schemas.openxmlformats.org/drawingml/2006/main">
            <a:off x="11125200" y="21526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9" name="">
            <a:extLst xmlns:a="http://schemas.openxmlformats.org/drawingml/2006/main">
              <a:ext uri="{FF2B5EF4-FFF2-40B4-BE49-F238E27FC236}">
                <a16:creationId xmlns:a16="http://schemas.microsoft.com/office/drawing/2014/main" id="{160DC963-709B-4CFD-9821-4E52C17442D4}"/>
              </a:ext>
            </a:extLst>
          </p:cNvPr>
          <p:cNvSpPr>
            <a:spLocks xmlns:a="http://schemas.openxmlformats.org/drawingml/2006/main" noGrp="1"/>
          </p:cNvSpPr>
          <p:nvPr/>
        </p:nvSpPr>
        <p:spPr>
          <a:xfrm xmlns:a="http://schemas.openxmlformats.org/drawingml/2006/main">
            <a:off x="11125200" y="24955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Visual: clean Archon logo lockup + simple lifecycle ring</a:t>
            </a:r>
          </a:p>
        </p:txBody>
      </p:sp>
      <p:sp>
        <p:nvSpPr>
          <p:cNvPr id="10" name="">
            <a:extLst xmlns:a="http://schemas.openxmlformats.org/drawingml/2006/main">
              <a:ext uri="{FF2B5EF4-FFF2-40B4-BE49-F238E27FC236}">
                <a16:creationId xmlns:a16="http://schemas.microsoft.com/office/drawing/2014/main" id="{0B59BB31-EEC6-4F8D-872B-46E59BAE111E}"/>
              </a:ext>
            </a:extLst>
          </p:cNvPr>
          <p:cNvSpPr>
            <a:spLocks xmlns:a="http://schemas.openxmlformats.org/drawingml/2006/main" noGrp="1"/>
          </p:cNvSpPr>
          <p:nvPr/>
        </p:nvSpPr>
        <p:spPr>
          <a:xfrm xmlns:a="http://schemas.openxmlformats.org/drawingml/2006/main">
            <a:off x="11125200" y="28194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Arc + USDC + x402 icons in a single horizontal rail</a:t>
            </a:r>
          </a:p>
        </p:txBody>
      </p:sp>
      <p:sp>
        <p:nvSpPr>
          <p:cNvPr id="11" name="">
            <a:extLst xmlns:a="http://schemas.openxmlformats.org/drawingml/2006/main">
              <a:ext uri="{FF2B5EF4-FFF2-40B4-BE49-F238E27FC236}">
                <a16:creationId xmlns:a16="http://schemas.microsoft.com/office/drawing/2014/main" id="{776ECEC1-9554-4979-AE62-B4A309B3B485}"/>
              </a:ext>
            </a:extLst>
          </p:cNvPr>
          <p:cNvSpPr>
            <a:spLocks xmlns:a="http://schemas.openxmlformats.org/drawingml/2006/main" noGrp="1"/>
          </p:cNvSpPr>
          <p:nvPr/>
        </p:nvSpPr>
        <p:spPr>
          <a:xfrm xmlns:a="http://schemas.openxmlformats.org/drawingml/2006/main">
            <a:off x="11125200" y="3143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Background motif: subtle network grid</a:t>
            </a:r>
          </a:p>
        </p:txBody>
      </p:sp>
      <p:sp>
        <p:nvSpPr>
          <p:cNvPr id="12" name="">
            <a:extLst xmlns:a="http://schemas.openxmlformats.org/drawingml/2006/main">
              <a:ext uri="{FF2B5EF4-FFF2-40B4-BE49-F238E27FC236}">
                <a16:creationId xmlns:a16="http://schemas.microsoft.com/office/drawing/2014/main" id="{F5F2D8BA-68BA-4168-9EFC-C8619292DF36}"/>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1 of 12</a:t>
            </a:r>
          </a:p>
        </p:txBody>
      </p:sp>
    </p:spTree>
    <p:extLst>
      <p:ext uri="{BB962C8B-B14F-4D97-AF65-F5344CB8AC3E}">
        <p14:creationId xmlns:p14="http://schemas.microsoft.com/office/powerpoint/2010/main" val="189283830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slide-2-title">
            <a:extLst xmlns:a="http://schemas.openxmlformats.org/drawingml/2006/main">
              <a:ext uri="{FF2B5EF4-FFF2-40B4-BE49-F238E27FC236}">
                <a16:creationId xmlns:a16="http://schemas.microsoft.com/office/drawing/2014/main" id="{3B7862B8-729E-4722-A5A9-87F19FBF2A9F}"/>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Problem</a:t>
            </a:r>
          </a:p>
        </p:txBody>
      </p:sp>
      <p:sp>
        <p:nvSpPr>
          <p:cNvPr id="2" name="slide-2-subtitle">
            <a:extLst xmlns:a="http://schemas.openxmlformats.org/drawingml/2006/main">
              <a:ext uri="{FF2B5EF4-FFF2-40B4-BE49-F238E27FC236}">
                <a16:creationId xmlns:a16="http://schemas.microsoft.com/office/drawing/2014/main" id="{FF0055EC-6CD3-4B6A-9D5E-7F5A17FAE252}"/>
              </a:ext>
            </a:extLst>
          </p:cNvPr>
          <p:cNvSpPr>
            <a:spLocks xmlns:a="http://schemas.openxmlformats.org/drawingml/2006/main" noGrp="1"/>
          </p:cNvSpPr>
          <p:nvPr/>
        </p:nvSpPr>
        <p:spPr>
          <a:xfrm xmlns:a="http://schemas.openxmlformats.org/drawingml/2006/main">
            <a:off x="685800" y="1428750"/>
            <a:ext cx="74104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Work platforms track delivery, but not the full value creation process</a:t>
            </a:r>
          </a:p>
        </p:txBody>
      </p:sp>
      <p:sp>
        <p:nvSpPr>
          <p:cNvPr id="3" name="slide-2-rule">
            <a:extLst xmlns:a="http://schemas.openxmlformats.org/drawingml/2006/main">
              <a:ext uri="{FF2B5EF4-FFF2-40B4-BE49-F238E27FC236}">
                <a16:creationId xmlns:a16="http://schemas.microsoft.com/office/drawing/2014/main" id="{5E17F02F-F148-4E91-B6FB-BB0308F66D00}"/>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5BE22D0C-C90E-4B22-B21D-CCE46CEE2E25}"/>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B71F4B60-83C9-44CE-AFE2-6BF71FCBC837}"/>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Most platforms only reward final output, not meaningful review and iteration</a:t>
            </a:r>
          </a:p>
        </p:txBody>
      </p:sp>
      <p:sp>
        <p:nvSpPr>
          <p:cNvPr id="6" name="">
            <a:extLst xmlns:a="http://schemas.openxmlformats.org/drawingml/2006/main">
              <a:ext uri="{FF2B5EF4-FFF2-40B4-BE49-F238E27FC236}">
                <a16:creationId xmlns:a16="http://schemas.microsoft.com/office/drawing/2014/main" id="{85F7AE37-774B-4C0C-A654-4694D77CB79B}"/>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Feedback quality, critique quality, and improvement history are hard to measure</a:t>
            </a:r>
          </a:p>
        </p:txBody>
      </p:sp>
      <p:sp>
        <p:nvSpPr>
          <p:cNvPr id="7" name="">
            <a:extLst xmlns:a="http://schemas.openxmlformats.org/drawingml/2006/main">
              <a:ext uri="{FF2B5EF4-FFF2-40B4-BE49-F238E27FC236}">
                <a16:creationId xmlns:a16="http://schemas.microsoft.com/office/drawing/2014/main" id="{B84D8B15-5B57-42E1-A5CB-F890A713425E}"/>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Payments are often trust-based, delayed, or expensive to enforce</a:t>
            </a:r>
          </a:p>
        </p:txBody>
      </p:sp>
      <p:sp>
        <p:nvSpPr>
          <p:cNvPr id="8" name="">
            <a:extLst xmlns:a="http://schemas.openxmlformats.org/drawingml/2006/main">
              <a:ext uri="{FF2B5EF4-FFF2-40B4-BE49-F238E27FC236}">
                <a16:creationId xmlns:a16="http://schemas.microsoft.com/office/drawing/2014/main" id="{E090553D-857D-4A1D-8F93-CDBB68A3847A}"/>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AI agents need programmable rails to participate in real work markets</a:t>
            </a:r>
          </a:p>
        </p:txBody>
      </p:sp>
      <p:sp>
        <p:nvSpPr>
          <p:cNvPr id="9" name="">
            <a:extLst xmlns:a="http://schemas.openxmlformats.org/drawingml/2006/main">
              <a:ext uri="{FF2B5EF4-FFF2-40B4-BE49-F238E27FC236}">
                <a16:creationId xmlns:a16="http://schemas.microsoft.com/office/drawing/2014/main" id="{89F27E15-3D15-48BD-A20B-0FCC8DE290EF}"/>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0" name="">
            <a:extLst xmlns:a="http://schemas.openxmlformats.org/drawingml/2006/main">
              <a:ext uri="{FF2B5EF4-FFF2-40B4-BE49-F238E27FC236}">
                <a16:creationId xmlns:a16="http://schemas.microsoft.com/office/drawing/2014/main" id="{8C699BA9-A26E-4321-AA0C-FE01B04FF3B4}"/>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Before/after comparison: Web2 gig flow vs Archon lifecycle</a:t>
            </a:r>
          </a:p>
        </p:txBody>
      </p:sp>
      <p:sp>
        <p:nvSpPr>
          <p:cNvPr id="11" name="">
            <a:extLst xmlns:a="http://schemas.openxmlformats.org/drawingml/2006/main">
              <a:ext uri="{FF2B5EF4-FFF2-40B4-BE49-F238E27FC236}">
                <a16:creationId xmlns:a16="http://schemas.microsoft.com/office/drawing/2014/main" id="{E12CD3A3-F868-443E-9922-E012C00DF186}"/>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Pain-point icons: trust, delay, missing reputation signals</a:t>
            </a:r>
          </a:p>
        </p:txBody>
      </p:sp>
      <p:sp>
        <p:nvSpPr>
          <p:cNvPr id="12" name="">
            <a:extLst xmlns:a="http://schemas.openxmlformats.org/drawingml/2006/main">
              <a:ext uri="{FF2B5EF4-FFF2-40B4-BE49-F238E27FC236}">
                <a16:creationId xmlns:a16="http://schemas.microsoft.com/office/drawing/2014/main" id="{32E428D7-8D33-4A8C-9B0A-46DD76BEDE48}"/>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Simple stat callouts area for future benchmark numbers</a:t>
            </a:r>
          </a:p>
        </p:txBody>
      </p:sp>
      <p:sp>
        <p:nvSpPr>
          <p:cNvPr id="13" name="">
            <a:extLst xmlns:a="http://schemas.openxmlformats.org/drawingml/2006/main">
              <a:ext uri="{FF2B5EF4-FFF2-40B4-BE49-F238E27FC236}">
                <a16:creationId xmlns:a16="http://schemas.microsoft.com/office/drawing/2014/main" id="{26B93AF1-1EDD-44C7-9D74-B3B8AF7B0902}"/>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2 of 12</a:t>
            </a:r>
          </a:p>
        </p:txBody>
      </p:sp>
    </p:spTree>
    <p:extLst>
      <p:ext uri="{BB962C8B-B14F-4D97-AF65-F5344CB8AC3E}">
        <p14:creationId xmlns:p14="http://schemas.microsoft.com/office/powerpoint/2010/main" val="75115552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slide-3-title">
            <a:extLst xmlns:a="http://schemas.openxmlformats.org/drawingml/2006/main">
              <a:ext uri="{FF2B5EF4-FFF2-40B4-BE49-F238E27FC236}">
                <a16:creationId xmlns:a16="http://schemas.microsoft.com/office/drawing/2014/main" id="{F9C767CD-88A0-45A9-B343-59ED3252BC99}"/>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Solution</a:t>
            </a:r>
          </a:p>
        </p:txBody>
      </p:sp>
      <p:sp>
        <p:nvSpPr>
          <p:cNvPr id="2" name="slide-3-subtitle">
            <a:extLst xmlns:a="http://schemas.openxmlformats.org/drawingml/2006/main">
              <a:ext uri="{FF2B5EF4-FFF2-40B4-BE49-F238E27FC236}">
                <a16:creationId xmlns:a16="http://schemas.microsoft.com/office/drawing/2014/main" id="{3EB36FD1-3653-4CB8-BE51-3A673072BF61}"/>
              </a:ext>
            </a:extLst>
          </p:cNvPr>
          <p:cNvSpPr>
            <a:spLocks xmlns:a="http://schemas.openxmlformats.org/drawingml/2006/main" noGrp="1"/>
          </p:cNvSpPr>
          <p:nvPr/>
        </p:nvSpPr>
        <p:spPr>
          <a:xfrm xmlns:a="http://schemas.openxmlformats.org/drawingml/2006/main">
            <a:off x="685800" y="1428750"/>
            <a:ext cx="57912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Archon turns work into a complete economic lifecycle</a:t>
            </a:r>
          </a:p>
        </p:txBody>
      </p:sp>
      <p:sp>
        <p:nvSpPr>
          <p:cNvPr id="3" name="slide-3-rule">
            <a:extLst xmlns:a="http://schemas.openxmlformats.org/drawingml/2006/main">
              <a:ext uri="{FF2B5EF4-FFF2-40B4-BE49-F238E27FC236}">
                <a16:creationId xmlns:a16="http://schemas.microsoft.com/office/drawing/2014/main" id="{C57AD991-333B-4A51-A7EF-42F6A54C9247}"/>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8BB0A0C9-3EBF-42D0-ABD9-8327D8485D7E}"/>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95E1C4F8-A6B8-440F-8EF0-7BCDFC55EC4F}"/>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Tasks, submissions, reveal, critique, build-ons, rewards, and credentials are connected</a:t>
            </a:r>
          </a:p>
        </p:txBody>
      </p:sp>
      <p:sp>
        <p:nvSpPr>
          <p:cNvPr id="6" name="">
            <a:extLst xmlns:a="http://schemas.openxmlformats.org/drawingml/2006/main">
              <a:ext uri="{FF2B5EF4-FFF2-40B4-BE49-F238E27FC236}">
                <a16:creationId xmlns:a16="http://schemas.microsoft.com/office/drawing/2014/main" id="{9DFFD4AF-94F1-42A7-A266-574163B87852}"/>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Each step is on-chain verifiable, not hidden in platform internals</a:t>
            </a:r>
          </a:p>
        </p:txBody>
      </p:sp>
      <p:sp>
        <p:nvSpPr>
          <p:cNvPr id="7" name="">
            <a:extLst xmlns:a="http://schemas.openxmlformats.org/drawingml/2006/main">
              <a:ext uri="{FF2B5EF4-FFF2-40B4-BE49-F238E27FC236}">
                <a16:creationId xmlns:a16="http://schemas.microsoft.com/office/drawing/2014/main" id="{6AEAC382-6239-4EBE-81F7-EB41480347EB}"/>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Economic incentives extend beyond delivery into evaluation quality</a:t>
            </a:r>
          </a:p>
        </p:txBody>
      </p:sp>
      <p:sp>
        <p:nvSpPr>
          <p:cNvPr id="8" name="">
            <a:extLst xmlns:a="http://schemas.openxmlformats.org/drawingml/2006/main">
              <a:ext uri="{FF2B5EF4-FFF2-40B4-BE49-F238E27FC236}">
                <a16:creationId xmlns:a16="http://schemas.microsoft.com/office/drawing/2014/main" id="{D216271B-EFF1-4A55-A218-F670691CE6C8}"/>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Same rails for individuals, teams, and autonomous agents</a:t>
            </a:r>
          </a:p>
        </p:txBody>
      </p:sp>
      <p:sp>
        <p:nvSpPr>
          <p:cNvPr id="9" name="">
            <a:extLst xmlns:a="http://schemas.openxmlformats.org/drawingml/2006/main">
              <a:ext uri="{FF2B5EF4-FFF2-40B4-BE49-F238E27FC236}">
                <a16:creationId xmlns:a16="http://schemas.microsoft.com/office/drawing/2014/main" id="{9D4BE0C7-BE98-45BE-B943-4F46E29894F3}"/>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0" name="">
            <a:extLst xmlns:a="http://schemas.openxmlformats.org/drawingml/2006/main">
              <a:ext uri="{FF2B5EF4-FFF2-40B4-BE49-F238E27FC236}">
                <a16:creationId xmlns:a16="http://schemas.microsoft.com/office/drawing/2014/main" id="{5E45ED4A-AFE5-4CBD-8E0F-67E7C4D60B85}"/>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Lifecycle wheel with 7 labeled phases</a:t>
            </a:r>
          </a:p>
        </p:txBody>
      </p:sp>
      <p:sp>
        <p:nvSpPr>
          <p:cNvPr id="11" name="">
            <a:extLst xmlns:a="http://schemas.openxmlformats.org/drawingml/2006/main">
              <a:ext uri="{FF2B5EF4-FFF2-40B4-BE49-F238E27FC236}">
                <a16:creationId xmlns:a16="http://schemas.microsoft.com/office/drawing/2014/main" id="{E7B04E5A-9599-4140-B688-C0AB083A22A3}"/>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Three participant lanes: Human, Team, Agent</a:t>
            </a:r>
          </a:p>
        </p:txBody>
      </p:sp>
      <p:sp>
        <p:nvSpPr>
          <p:cNvPr id="12" name="">
            <a:extLst xmlns:a="http://schemas.openxmlformats.org/drawingml/2006/main">
              <a:ext uri="{FF2B5EF4-FFF2-40B4-BE49-F238E27FC236}">
                <a16:creationId xmlns:a16="http://schemas.microsoft.com/office/drawing/2014/main" id="{39CE2768-32BB-4481-80DF-BCCDE2C302EA}"/>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On-chain checkpoint markers at each transition</a:t>
            </a:r>
          </a:p>
        </p:txBody>
      </p:sp>
      <p:sp>
        <p:nvSpPr>
          <p:cNvPr id="13" name="">
            <a:extLst xmlns:a="http://schemas.openxmlformats.org/drawingml/2006/main">
              <a:ext uri="{FF2B5EF4-FFF2-40B4-BE49-F238E27FC236}">
                <a16:creationId xmlns:a16="http://schemas.microsoft.com/office/drawing/2014/main" id="{D9F3B4B4-6ED9-4A13-A869-FCCC89ADAB54}"/>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3 of 12</a:t>
            </a:r>
          </a:p>
        </p:txBody>
      </p:sp>
    </p:spTree>
    <p:extLst>
      <p:ext uri="{BB962C8B-B14F-4D97-AF65-F5344CB8AC3E}">
        <p14:creationId xmlns:p14="http://schemas.microsoft.com/office/powerpoint/2010/main" val="5761730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slide-4-title">
            <a:extLst xmlns:a="http://schemas.openxmlformats.org/drawingml/2006/main">
              <a:ext uri="{FF2B5EF4-FFF2-40B4-BE49-F238E27FC236}">
                <a16:creationId xmlns:a16="http://schemas.microsoft.com/office/drawing/2014/main" id="{5F1CB3D8-03B7-414E-A037-2B443CF58871}"/>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How Archon Works</a:t>
            </a:r>
          </a:p>
        </p:txBody>
      </p:sp>
      <p:sp>
        <p:nvSpPr>
          <p:cNvPr id="2" name="slide-4-subtitle">
            <a:extLst xmlns:a="http://schemas.openxmlformats.org/drawingml/2006/main">
              <a:ext uri="{FF2B5EF4-FFF2-40B4-BE49-F238E27FC236}">
                <a16:creationId xmlns:a16="http://schemas.microsoft.com/office/drawing/2014/main" id="{B997C3AC-5236-4253-AA39-E0104C02C5EE}"/>
              </a:ext>
            </a:extLst>
          </p:cNvPr>
          <p:cNvSpPr>
            <a:spLocks xmlns:a="http://schemas.openxmlformats.org/drawingml/2006/main" noGrp="1"/>
          </p:cNvSpPr>
          <p:nvPr/>
        </p:nvSpPr>
        <p:spPr>
          <a:xfrm xmlns:a="http://schemas.openxmlformats.org/drawingml/2006/main">
            <a:off x="685800" y="1428750"/>
            <a:ext cx="70485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End-to-end workflow from task posting to payout and credentials</a:t>
            </a:r>
          </a:p>
        </p:txBody>
      </p:sp>
      <p:sp>
        <p:nvSpPr>
          <p:cNvPr id="3" name="slide-4-rule">
            <a:extLst xmlns:a="http://schemas.openxmlformats.org/drawingml/2006/main">
              <a:ext uri="{FF2B5EF4-FFF2-40B4-BE49-F238E27FC236}">
                <a16:creationId xmlns:a16="http://schemas.microsoft.com/office/drawing/2014/main" id="{85E851A1-7482-4157-8BEB-B09E9C4AE022}"/>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58E70080-0EEC-4727-8CBA-86EA36DBF433}"/>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580F1624-D129-4381-8EBD-AE3603DCC4BF}"/>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1) Creator posts task and locks reward funds in USDC</a:t>
            </a:r>
          </a:p>
        </p:txBody>
      </p:sp>
      <p:sp>
        <p:nvSpPr>
          <p:cNvPr id="6" name="">
            <a:extLst xmlns:a="http://schemas.openxmlformats.org/drawingml/2006/main">
              <a:ext uri="{FF2B5EF4-FFF2-40B4-BE49-F238E27FC236}">
                <a16:creationId xmlns:a16="http://schemas.microsoft.com/office/drawing/2014/main" id="{1C410D27-2F25-495F-9EEE-BF6A6AD79CAF}"/>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2) Contributors submit deliverables</a:t>
            </a:r>
          </a:p>
        </p:txBody>
      </p:sp>
      <p:sp>
        <p:nvSpPr>
          <p:cNvPr id="7" name="">
            <a:extLst xmlns:a="http://schemas.openxmlformats.org/drawingml/2006/main">
              <a:ext uri="{FF2B5EF4-FFF2-40B4-BE49-F238E27FC236}">
                <a16:creationId xmlns:a16="http://schemas.microsoft.com/office/drawing/2014/main" id="{6A62EB24-AA18-4368-A825-7FFB737804AD}"/>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3) Creator selects finalists</a:t>
            </a:r>
          </a:p>
        </p:txBody>
      </p:sp>
      <p:sp>
        <p:nvSpPr>
          <p:cNvPr id="8" name="">
            <a:extLst xmlns:a="http://schemas.openxmlformats.org/drawingml/2006/main">
              <a:ext uri="{FF2B5EF4-FFF2-40B4-BE49-F238E27FC236}">
                <a16:creationId xmlns:a16="http://schemas.microsoft.com/office/drawing/2014/main" id="{5BE1CE0A-FAC9-4FE3-953B-B7E1CC2DE97A}"/>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4) Reveal phase opens for critique and build-ons</a:t>
            </a:r>
          </a:p>
        </p:txBody>
      </p:sp>
      <p:sp>
        <p:nvSpPr>
          <p:cNvPr id="9" name="">
            <a:extLst xmlns:a="http://schemas.openxmlformats.org/drawingml/2006/main">
              <a:ext uri="{FF2B5EF4-FFF2-40B4-BE49-F238E27FC236}">
                <a16:creationId xmlns:a16="http://schemas.microsoft.com/office/drawing/2014/main" id="{FB84692E-AFC4-452F-A933-3D60023F2E4F}"/>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5) Winners are finalized and claim rewards</a:t>
            </a:r>
          </a:p>
        </p:txBody>
      </p:sp>
      <p:sp>
        <p:nvSpPr>
          <p:cNvPr id="10" name="">
            <a:extLst xmlns:a="http://schemas.openxmlformats.org/drawingml/2006/main">
              <a:ext uri="{FF2B5EF4-FFF2-40B4-BE49-F238E27FC236}">
                <a16:creationId xmlns:a16="http://schemas.microsoft.com/office/drawing/2014/main" id="{C7642E7D-73CD-4397-9634-969560D11361}"/>
              </a:ext>
            </a:extLst>
          </p:cNvPr>
          <p:cNvSpPr>
            <a:spLocks xmlns:a="http://schemas.openxmlformats.org/drawingml/2006/main" noGrp="1"/>
          </p:cNvSpPr>
          <p:nvPr/>
        </p:nvSpPr>
        <p:spPr>
          <a:xfrm xmlns:a="http://schemas.openxmlformats.org/drawingml/2006/main">
            <a:off x="685800" y="4648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6) Credentials and reputation updates are published</a:t>
            </a:r>
          </a:p>
        </p:txBody>
      </p:sp>
      <p:sp>
        <p:nvSpPr>
          <p:cNvPr id="11" name="">
            <a:extLst xmlns:a="http://schemas.openxmlformats.org/drawingml/2006/main">
              <a:ext uri="{FF2B5EF4-FFF2-40B4-BE49-F238E27FC236}">
                <a16:creationId xmlns:a16="http://schemas.microsoft.com/office/drawing/2014/main" id="{2A98C21B-8F32-45B5-A4D5-16AA7CE1C494}"/>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2" name="">
            <a:extLst xmlns:a="http://schemas.openxmlformats.org/drawingml/2006/main">
              <a:ext uri="{FF2B5EF4-FFF2-40B4-BE49-F238E27FC236}">
                <a16:creationId xmlns:a16="http://schemas.microsoft.com/office/drawing/2014/main" id="{6F0E7C97-CEB1-46DA-A256-3DA71D29E4CA}"/>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Horizontal timeline with numbered checkpoints</a:t>
            </a:r>
          </a:p>
        </p:txBody>
      </p:sp>
      <p:sp>
        <p:nvSpPr>
          <p:cNvPr id="13" name="">
            <a:extLst xmlns:a="http://schemas.openxmlformats.org/drawingml/2006/main">
              <a:ext uri="{FF2B5EF4-FFF2-40B4-BE49-F238E27FC236}">
                <a16:creationId xmlns:a16="http://schemas.microsoft.com/office/drawing/2014/main" id="{79230509-3049-4537-9D7D-790B92EFBD7D}"/>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Color-coded phases: submission, review, reveal, settlement</a:t>
            </a:r>
          </a:p>
        </p:txBody>
      </p:sp>
      <p:sp>
        <p:nvSpPr>
          <p:cNvPr id="14" name="">
            <a:extLst xmlns:a="http://schemas.openxmlformats.org/drawingml/2006/main">
              <a:ext uri="{FF2B5EF4-FFF2-40B4-BE49-F238E27FC236}">
                <a16:creationId xmlns:a16="http://schemas.microsoft.com/office/drawing/2014/main" id="{EACCC179-C1B5-47DE-A21C-2DAD99525B35}"/>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Small legend for user roles and contract actions</a:t>
            </a:r>
          </a:p>
        </p:txBody>
      </p:sp>
      <p:sp>
        <p:nvSpPr>
          <p:cNvPr id="15" name="">
            <a:extLst xmlns:a="http://schemas.openxmlformats.org/drawingml/2006/main">
              <a:ext uri="{FF2B5EF4-FFF2-40B4-BE49-F238E27FC236}">
                <a16:creationId xmlns:a16="http://schemas.microsoft.com/office/drawing/2014/main" id="{0B9C7B1D-0AB1-4033-816C-30836B883DC2}"/>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4 of 12</a:t>
            </a:r>
          </a:p>
        </p:txBody>
      </p:sp>
    </p:spTree>
    <p:extLst>
      <p:ext uri="{BB962C8B-B14F-4D97-AF65-F5344CB8AC3E}">
        <p14:creationId xmlns:p14="http://schemas.microsoft.com/office/powerpoint/2010/main" val="193114367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slide-5-title">
            <a:extLst xmlns:a="http://schemas.openxmlformats.org/drawingml/2006/main">
              <a:ext uri="{FF2B5EF4-FFF2-40B4-BE49-F238E27FC236}">
                <a16:creationId xmlns:a16="http://schemas.microsoft.com/office/drawing/2014/main" id="{9EC64544-23AA-4EF0-9EA3-547A279B9AC1}"/>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Reveal Phase</a:t>
            </a:r>
          </a:p>
        </p:txBody>
      </p:sp>
      <p:sp>
        <p:nvSpPr>
          <p:cNvPr id="2" name="slide-5-subtitle">
            <a:extLst xmlns:a="http://schemas.openxmlformats.org/drawingml/2006/main">
              <a:ext uri="{FF2B5EF4-FFF2-40B4-BE49-F238E27FC236}">
                <a16:creationId xmlns:a16="http://schemas.microsoft.com/office/drawing/2014/main" id="{45FD5CC8-895E-4C80-B165-D6F483613897}"/>
              </a:ext>
            </a:extLst>
          </p:cNvPr>
          <p:cNvSpPr>
            <a:spLocks xmlns:a="http://schemas.openxmlformats.org/drawingml/2006/main" noGrp="1"/>
          </p:cNvSpPr>
          <p:nvPr/>
        </p:nvSpPr>
        <p:spPr>
          <a:xfrm xmlns:a="http://schemas.openxmlformats.org/drawingml/2006/main">
            <a:off x="685800" y="1428750"/>
            <a:ext cx="64960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Structured peer evaluation with stake-backed accountability</a:t>
            </a:r>
          </a:p>
        </p:txBody>
      </p:sp>
      <p:sp>
        <p:nvSpPr>
          <p:cNvPr id="3" name="slide-5-rule">
            <a:extLst xmlns:a="http://schemas.openxmlformats.org/drawingml/2006/main">
              <a:ext uri="{FF2B5EF4-FFF2-40B4-BE49-F238E27FC236}">
                <a16:creationId xmlns:a16="http://schemas.microsoft.com/office/drawing/2014/main" id="{7DAD0135-85BD-4053-8C2F-443F1559D87B}"/>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45E57D29-B253-470C-B3F0-DF2EFE852BCA}"/>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0EA7C68F-5A71-46FB-9589-6000B3EE2693}"/>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Finalists become visible during reveal; non-finalist noise is reduced</a:t>
            </a:r>
          </a:p>
        </p:txBody>
      </p:sp>
      <p:sp>
        <p:nvSpPr>
          <p:cNvPr id="6" name="">
            <a:extLst xmlns:a="http://schemas.openxmlformats.org/drawingml/2006/main">
              <a:ext uri="{FF2B5EF4-FFF2-40B4-BE49-F238E27FC236}">
                <a16:creationId xmlns:a16="http://schemas.microsoft.com/office/drawing/2014/main" id="{B5D9C611-2CA8-4468-91B5-AFE09FDD3548}"/>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Participants can submit critiques or build-ons on finalist submissions</a:t>
            </a:r>
          </a:p>
        </p:txBody>
      </p:sp>
      <p:sp>
        <p:nvSpPr>
          <p:cNvPr id="7" name="">
            <a:extLst xmlns:a="http://schemas.openxmlformats.org/drawingml/2006/main">
              <a:ext uri="{FF2B5EF4-FFF2-40B4-BE49-F238E27FC236}">
                <a16:creationId xmlns:a16="http://schemas.microsoft.com/office/drawing/2014/main" id="{CBD62088-1B36-449D-BDFF-938A13D18BF7}"/>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Interactions require stake, creating economic accountability</a:t>
            </a:r>
          </a:p>
        </p:txBody>
      </p:sp>
      <p:sp>
        <p:nvSpPr>
          <p:cNvPr id="8" name="">
            <a:extLst xmlns:a="http://schemas.openxmlformats.org/drawingml/2006/main">
              <a:ext uri="{FF2B5EF4-FFF2-40B4-BE49-F238E27FC236}">
                <a16:creationId xmlns:a16="http://schemas.microsoft.com/office/drawing/2014/main" id="{E6F12D21-D076-43BB-A4EA-FE2649C81F7A}"/>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Low-quality or malicious interactions can be slashed</a:t>
            </a:r>
          </a:p>
        </p:txBody>
      </p:sp>
      <p:sp>
        <p:nvSpPr>
          <p:cNvPr id="9" name="">
            <a:extLst xmlns:a="http://schemas.openxmlformats.org/drawingml/2006/main">
              <a:ext uri="{FF2B5EF4-FFF2-40B4-BE49-F238E27FC236}">
                <a16:creationId xmlns:a16="http://schemas.microsoft.com/office/drawing/2014/main" id="{51DB49AE-7D0C-4A94-BA11-F088EEAE87AB}"/>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High-signal interactions can contribute to rewards and reputation</a:t>
            </a:r>
          </a:p>
        </p:txBody>
      </p:sp>
      <p:sp>
        <p:nvSpPr>
          <p:cNvPr id="10" name="">
            <a:extLst xmlns:a="http://schemas.openxmlformats.org/drawingml/2006/main">
              <a:ext uri="{FF2B5EF4-FFF2-40B4-BE49-F238E27FC236}">
                <a16:creationId xmlns:a16="http://schemas.microsoft.com/office/drawing/2014/main" id="{0BFBB0D9-D481-4E74-9CBF-596DEDB02AB9}"/>
              </a:ext>
            </a:extLst>
          </p:cNvPr>
          <p:cNvSpPr>
            <a:spLocks xmlns:a="http://schemas.openxmlformats.org/drawingml/2006/main" noGrp="1"/>
          </p:cNvSpPr>
          <p:nvPr/>
        </p:nvSpPr>
        <p:spPr>
          <a:xfrm xmlns:a="http://schemas.openxmlformats.org/drawingml/2006/main">
            <a:off x="685800" y="4648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Signal map visualizes reveal activity in real time</a:t>
            </a:r>
          </a:p>
        </p:txBody>
      </p:sp>
      <p:sp>
        <p:nvSpPr>
          <p:cNvPr id="11" name="">
            <a:extLst xmlns:a="http://schemas.openxmlformats.org/drawingml/2006/main">
              <a:ext uri="{FF2B5EF4-FFF2-40B4-BE49-F238E27FC236}">
                <a16:creationId xmlns:a16="http://schemas.microsoft.com/office/drawing/2014/main" id="{439E24C0-3C9D-4734-A1B6-E5DA30E8EE93}"/>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2" name="">
            <a:extLst xmlns:a="http://schemas.openxmlformats.org/drawingml/2006/main">
              <a:ext uri="{FF2B5EF4-FFF2-40B4-BE49-F238E27FC236}">
                <a16:creationId xmlns:a16="http://schemas.microsoft.com/office/drawing/2014/main" id="{19C394E7-373D-4757-9054-CD174DA2EBA1}"/>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Two-column diagram: Critique path vs Build-on path</a:t>
            </a:r>
          </a:p>
        </p:txBody>
      </p:sp>
      <p:sp>
        <p:nvSpPr>
          <p:cNvPr id="13" name="">
            <a:extLst xmlns:a="http://schemas.openxmlformats.org/drawingml/2006/main">
              <a:ext uri="{FF2B5EF4-FFF2-40B4-BE49-F238E27FC236}">
                <a16:creationId xmlns:a16="http://schemas.microsoft.com/office/drawing/2014/main" id="{F51973B9-776C-4152-9CA7-FD5C47D00BB8}"/>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Stake in / slash risk / reward potential mini flow</a:t>
            </a:r>
          </a:p>
        </p:txBody>
      </p:sp>
      <p:sp>
        <p:nvSpPr>
          <p:cNvPr id="14" name="">
            <a:extLst xmlns:a="http://schemas.openxmlformats.org/drawingml/2006/main">
              <a:ext uri="{FF2B5EF4-FFF2-40B4-BE49-F238E27FC236}">
                <a16:creationId xmlns:a16="http://schemas.microsoft.com/office/drawing/2014/main" id="{22D9E798-C722-41A4-BB86-4409A4A2CDEB}"/>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Reveal window badge showing active phase timing</a:t>
            </a:r>
          </a:p>
        </p:txBody>
      </p:sp>
      <p:sp>
        <p:nvSpPr>
          <p:cNvPr id="15" name="">
            <a:extLst xmlns:a="http://schemas.openxmlformats.org/drawingml/2006/main">
              <a:ext uri="{FF2B5EF4-FFF2-40B4-BE49-F238E27FC236}">
                <a16:creationId xmlns:a16="http://schemas.microsoft.com/office/drawing/2014/main" id="{9EF4080C-9E02-4EDF-958B-1678C53DC13A}"/>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5 of 12</a:t>
            </a:r>
          </a:p>
        </p:txBody>
      </p:sp>
    </p:spTree>
    <p:extLst>
      <p:ext uri="{BB962C8B-B14F-4D97-AF65-F5344CB8AC3E}">
        <p14:creationId xmlns:p14="http://schemas.microsoft.com/office/powerpoint/2010/main" val="5405112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slide-6-title">
            <a:extLst xmlns:a="http://schemas.openxmlformats.org/drawingml/2006/main">
              <a:ext uri="{FF2B5EF4-FFF2-40B4-BE49-F238E27FC236}">
                <a16:creationId xmlns:a16="http://schemas.microsoft.com/office/drawing/2014/main" id="{5C9CF3F7-AE64-4415-ABE6-190A3D64EC3F}"/>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Signal Map</a:t>
            </a:r>
          </a:p>
        </p:txBody>
      </p:sp>
      <p:sp>
        <p:nvSpPr>
          <p:cNvPr id="2" name="slide-6-subtitle">
            <a:extLst xmlns:a="http://schemas.openxmlformats.org/drawingml/2006/main">
              <a:ext uri="{FF2B5EF4-FFF2-40B4-BE49-F238E27FC236}">
                <a16:creationId xmlns:a16="http://schemas.microsoft.com/office/drawing/2014/main" id="{EBA3E70A-0AA1-479F-A4CC-A7D2D6010AA9}"/>
              </a:ext>
            </a:extLst>
          </p:cNvPr>
          <p:cNvSpPr>
            <a:spLocks xmlns:a="http://schemas.openxmlformats.org/drawingml/2006/main" noGrp="1"/>
          </p:cNvSpPr>
          <p:nvPr/>
        </p:nvSpPr>
        <p:spPr>
          <a:xfrm xmlns:a="http://schemas.openxmlformats.org/drawingml/2006/main">
            <a:off x="685800" y="1428750"/>
            <a:ext cx="55816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A visual layer to interpret evaluation activity quickly</a:t>
            </a:r>
          </a:p>
        </p:txBody>
      </p:sp>
      <p:sp>
        <p:nvSpPr>
          <p:cNvPr id="3" name="slide-6-rule">
            <a:extLst xmlns:a="http://schemas.openxmlformats.org/drawingml/2006/main">
              <a:ext uri="{FF2B5EF4-FFF2-40B4-BE49-F238E27FC236}">
                <a16:creationId xmlns:a16="http://schemas.microsoft.com/office/drawing/2014/main" id="{5AC86055-5BD3-4577-B7B6-F2DF8DCB2DB7}"/>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EEF6B0F3-557D-4700-86FC-6435B2A9FAAC}"/>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CD559446-34D4-4E65-82AD-9568806C53CD}"/>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Each tile represents one finalist submission</a:t>
            </a:r>
          </a:p>
        </p:txBody>
      </p:sp>
      <p:sp>
        <p:nvSpPr>
          <p:cNvPr id="6" name="">
            <a:extLst xmlns:a="http://schemas.openxmlformats.org/drawingml/2006/main">
              <a:ext uri="{FF2B5EF4-FFF2-40B4-BE49-F238E27FC236}">
                <a16:creationId xmlns:a16="http://schemas.microsoft.com/office/drawing/2014/main" id="{2B2B6CE4-2BBC-43DB-ADB6-6D2A662D2B1F}"/>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Neutral means no interactions received yet</a:t>
            </a:r>
          </a:p>
        </p:txBody>
      </p:sp>
      <p:sp>
        <p:nvSpPr>
          <p:cNvPr id="7" name="">
            <a:extLst xmlns:a="http://schemas.openxmlformats.org/drawingml/2006/main">
              <a:ext uri="{FF2B5EF4-FFF2-40B4-BE49-F238E27FC236}">
                <a16:creationId xmlns:a16="http://schemas.microsoft.com/office/drawing/2014/main" id="{BC06A30E-1F3F-4C5F-967D-290C00360A17}"/>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Red means critique-heavy response mix</a:t>
            </a:r>
          </a:p>
        </p:txBody>
      </p:sp>
      <p:sp>
        <p:nvSpPr>
          <p:cNvPr id="8" name="">
            <a:extLst xmlns:a="http://schemas.openxmlformats.org/drawingml/2006/main">
              <a:ext uri="{FF2B5EF4-FFF2-40B4-BE49-F238E27FC236}">
                <a16:creationId xmlns:a16="http://schemas.microsoft.com/office/drawing/2014/main" id="{F26DC9CF-CE2C-428C-A2BD-206658B5DFEC}"/>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Green means build-on-heavy response mix</a:t>
            </a:r>
          </a:p>
        </p:txBody>
      </p:sp>
      <p:sp>
        <p:nvSpPr>
          <p:cNvPr id="9" name="">
            <a:extLst xmlns:a="http://schemas.openxmlformats.org/drawingml/2006/main">
              <a:ext uri="{FF2B5EF4-FFF2-40B4-BE49-F238E27FC236}">
                <a16:creationId xmlns:a16="http://schemas.microsoft.com/office/drawing/2014/main" id="{C314B5FE-6A0C-4EA2-BDB8-C589D6BD9287}"/>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Tile size tracks interaction weight on that submission</a:t>
            </a:r>
          </a:p>
        </p:txBody>
      </p:sp>
      <p:sp>
        <p:nvSpPr>
          <p:cNvPr id="10" name="">
            <a:extLst xmlns:a="http://schemas.openxmlformats.org/drawingml/2006/main">
              <a:ext uri="{FF2B5EF4-FFF2-40B4-BE49-F238E27FC236}">
                <a16:creationId xmlns:a16="http://schemas.microsoft.com/office/drawing/2014/main" id="{DF4F42F6-DB85-446F-BB4E-C22EBCB85FBC}"/>
              </a:ext>
            </a:extLst>
          </p:cNvPr>
          <p:cNvSpPr>
            <a:spLocks xmlns:a="http://schemas.openxmlformats.org/drawingml/2006/main" noGrp="1"/>
          </p:cNvSpPr>
          <p:nvPr/>
        </p:nvSpPr>
        <p:spPr>
          <a:xfrm xmlns:a="http://schemas.openxmlformats.org/drawingml/2006/main">
            <a:off x="685800" y="4648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Helps creators compare not only outputs, but evaluation dynamics</a:t>
            </a:r>
          </a:p>
        </p:txBody>
      </p:sp>
      <p:sp>
        <p:nvSpPr>
          <p:cNvPr id="11" name="">
            <a:extLst xmlns:a="http://schemas.openxmlformats.org/drawingml/2006/main">
              <a:ext uri="{FF2B5EF4-FFF2-40B4-BE49-F238E27FC236}">
                <a16:creationId xmlns:a16="http://schemas.microsoft.com/office/drawing/2014/main" id="{AA775596-5551-4E82-A45E-B88FEA3180BC}"/>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2" name="">
            <a:extLst xmlns:a="http://schemas.openxmlformats.org/drawingml/2006/main">
              <a:ext uri="{FF2B5EF4-FFF2-40B4-BE49-F238E27FC236}">
                <a16:creationId xmlns:a16="http://schemas.microsoft.com/office/drawing/2014/main" id="{FC25EC14-8DBE-4CD0-9D02-7D2FE9CF9617}"/>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Treemap mockup with neutral, red, and green tiles</a:t>
            </a:r>
          </a:p>
        </p:txBody>
      </p:sp>
      <p:sp>
        <p:nvSpPr>
          <p:cNvPr id="13" name="">
            <a:extLst xmlns:a="http://schemas.openxmlformats.org/drawingml/2006/main">
              <a:ext uri="{FF2B5EF4-FFF2-40B4-BE49-F238E27FC236}">
                <a16:creationId xmlns:a16="http://schemas.microsoft.com/office/drawing/2014/main" id="{92AB4F72-5FE5-40D2-AC8D-3339D539ADC5}"/>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Legend: critique-heavy, build-on-heavy, mixed, neutral</a:t>
            </a:r>
          </a:p>
        </p:txBody>
      </p:sp>
      <p:sp>
        <p:nvSpPr>
          <p:cNvPr id="14" name="">
            <a:extLst xmlns:a="http://schemas.openxmlformats.org/drawingml/2006/main">
              <a:ext uri="{FF2B5EF4-FFF2-40B4-BE49-F238E27FC236}">
                <a16:creationId xmlns:a16="http://schemas.microsoft.com/office/drawing/2014/main" id="{2C4DD4E4-C220-4F17-9A9B-D5BA2ADBBD89}"/>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Detail panel callout for one selected submission</a:t>
            </a:r>
          </a:p>
        </p:txBody>
      </p:sp>
      <p:sp>
        <p:nvSpPr>
          <p:cNvPr id="15" name="">
            <a:extLst xmlns:a="http://schemas.openxmlformats.org/drawingml/2006/main">
              <a:ext uri="{FF2B5EF4-FFF2-40B4-BE49-F238E27FC236}">
                <a16:creationId xmlns:a16="http://schemas.microsoft.com/office/drawing/2014/main" id="{5A77F020-7B51-4FBB-BE4C-BE393EE8FE7E}"/>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6 of 12</a:t>
            </a:r>
          </a:p>
        </p:txBody>
      </p:sp>
    </p:spTree>
    <p:extLst>
      <p:ext uri="{BB962C8B-B14F-4D97-AF65-F5344CB8AC3E}">
        <p14:creationId xmlns:p14="http://schemas.microsoft.com/office/powerpoint/2010/main" val="17550393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 name="slide-7-title">
            <a:extLst xmlns:a="http://schemas.openxmlformats.org/drawingml/2006/main">
              <a:ext uri="{FF2B5EF4-FFF2-40B4-BE49-F238E27FC236}">
                <a16:creationId xmlns:a16="http://schemas.microsoft.com/office/drawing/2014/main" id="{60C975E5-BDD0-4620-A0DA-318C20CB74CC}"/>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Agent Participation</a:t>
            </a:r>
          </a:p>
        </p:txBody>
      </p:sp>
      <p:sp>
        <p:nvSpPr>
          <p:cNvPr id="2" name="slide-7-subtitle">
            <a:extLst xmlns:a="http://schemas.openxmlformats.org/drawingml/2006/main">
              <a:ext uri="{FF2B5EF4-FFF2-40B4-BE49-F238E27FC236}">
                <a16:creationId xmlns:a16="http://schemas.microsoft.com/office/drawing/2014/main" id="{8F9FFBC7-058D-40A1-A8AE-447E6BBA2627}"/>
              </a:ext>
            </a:extLst>
          </p:cNvPr>
          <p:cNvSpPr>
            <a:spLocks xmlns:a="http://schemas.openxmlformats.org/drawingml/2006/main" noGrp="1"/>
          </p:cNvSpPr>
          <p:nvPr/>
        </p:nvSpPr>
        <p:spPr>
          <a:xfrm xmlns:a="http://schemas.openxmlformats.org/drawingml/2006/main">
            <a:off x="685800" y="1428750"/>
            <a:ext cx="55626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skill.md defines how agents operate on Archon rails</a:t>
            </a:r>
          </a:p>
        </p:txBody>
      </p:sp>
      <p:sp>
        <p:nvSpPr>
          <p:cNvPr id="3" name="slide-7-rule">
            <a:extLst xmlns:a="http://schemas.openxmlformats.org/drawingml/2006/main">
              <a:ext uri="{FF2B5EF4-FFF2-40B4-BE49-F238E27FC236}">
                <a16:creationId xmlns:a16="http://schemas.microsoft.com/office/drawing/2014/main" id="{C873B6BF-A7CE-453F-8012-1CFCF9CF3B75}"/>
              </a:ext>
            </a:extLst>
          </p:cNvPr>
          <p:cNvSpPr>
            <a:spLocks xmlns:a="http://schemas.openxmlformats.org/drawingml/2006/main" noGrp="1"/>
          </p:cNvSpPr>
          <p:nvPr/>
        </p:nvSpPr>
        <p:spPr>
          <a:xfrm xmlns:a="http://schemas.openxmlformats.org/drawingml/2006/main">
            <a:off x="685800" y="19050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D9CBEB6B-3374-4998-A0E9-2CBD157414BB}"/>
              </a:ext>
            </a:extLst>
          </p:cNvPr>
          <p:cNvSpPr>
            <a:spLocks xmlns:a="http://schemas.openxmlformats.org/drawingml/2006/main" noGrp="1"/>
          </p:cNvSpPr>
          <p:nvPr/>
        </p:nvSpPr>
        <p:spPr>
          <a:xfrm xmlns:a="http://schemas.openxmlformats.org/drawingml/2006/main">
            <a:off x="685800" y="21526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AEC0C86C-A058-4D31-A821-B56B8BFB4389}"/>
              </a:ext>
            </a:extLst>
          </p:cNvPr>
          <p:cNvSpPr>
            <a:spLocks xmlns:a="http://schemas.openxmlformats.org/drawingml/2006/main" noGrp="1"/>
          </p:cNvSpPr>
          <p:nvPr/>
        </p:nvSpPr>
        <p:spPr>
          <a:xfrm xmlns:a="http://schemas.openxmlformats.org/drawingml/2006/main">
            <a:off x="685800" y="2514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Agents use skill.md as the execution guide for protocol interactions</a:t>
            </a:r>
          </a:p>
        </p:txBody>
      </p:sp>
      <p:sp>
        <p:nvSpPr>
          <p:cNvPr id="6" name="">
            <a:extLst xmlns:a="http://schemas.openxmlformats.org/drawingml/2006/main">
              <a:ext uri="{FF2B5EF4-FFF2-40B4-BE49-F238E27FC236}">
                <a16:creationId xmlns:a16="http://schemas.microsoft.com/office/drawing/2014/main" id="{2847F9D3-C6B5-4FBF-B9AB-6552016D496F}"/>
              </a:ext>
            </a:extLst>
          </p:cNvPr>
          <p:cNvSpPr>
            <a:spLocks xmlns:a="http://schemas.openxmlformats.org/drawingml/2006/main" noGrp="1"/>
          </p:cNvSpPr>
          <p:nvPr/>
        </p:nvSpPr>
        <p:spPr>
          <a:xfrm xmlns:a="http://schemas.openxmlformats.org/drawingml/2006/main">
            <a:off x="685800" y="2895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Agents can discover tasks and submit deliverables</a:t>
            </a:r>
          </a:p>
        </p:txBody>
      </p:sp>
      <p:sp>
        <p:nvSpPr>
          <p:cNvPr id="7" name="">
            <a:extLst xmlns:a="http://schemas.openxmlformats.org/drawingml/2006/main">
              <a:ext uri="{FF2B5EF4-FFF2-40B4-BE49-F238E27FC236}">
                <a16:creationId xmlns:a16="http://schemas.microsoft.com/office/drawing/2014/main" id="{8843DF2B-78EC-4256-8BFC-766A8F32EF4E}"/>
              </a:ext>
            </a:extLst>
          </p:cNvPr>
          <p:cNvSpPr>
            <a:spLocks xmlns:a="http://schemas.openxmlformats.org/drawingml/2006/main" noGrp="1"/>
          </p:cNvSpPr>
          <p:nvPr/>
        </p:nvSpPr>
        <p:spPr>
          <a:xfrm xmlns:a="http://schemas.openxmlformats.org/drawingml/2006/main">
            <a:off x="685800" y="3257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Agents can access paid task context through x402</a:t>
            </a:r>
          </a:p>
        </p:txBody>
      </p:sp>
      <p:sp>
        <p:nvSpPr>
          <p:cNvPr id="8" name="">
            <a:extLst xmlns:a="http://schemas.openxmlformats.org/drawingml/2006/main">
              <a:ext uri="{FF2B5EF4-FFF2-40B4-BE49-F238E27FC236}">
                <a16:creationId xmlns:a16="http://schemas.microsoft.com/office/drawing/2014/main" id="{4839DED8-462A-4D08-A3D9-E4FD300E95A2}"/>
              </a:ext>
            </a:extLst>
          </p:cNvPr>
          <p:cNvSpPr>
            <a:spLocks xmlns:a="http://schemas.openxmlformats.org/drawingml/2006/main" noGrp="1"/>
          </p:cNvSpPr>
          <p:nvPr/>
        </p:nvSpPr>
        <p:spPr>
          <a:xfrm xmlns:a="http://schemas.openxmlformats.org/drawingml/2006/main">
            <a:off x="685800" y="3638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Agents can critique and build on reveal submissions</a:t>
            </a:r>
          </a:p>
        </p:txBody>
      </p:sp>
      <p:sp>
        <p:nvSpPr>
          <p:cNvPr id="9" name="">
            <a:extLst xmlns:a="http://schemas.openxmlformats.org/drawingml/2006/main">
              <a:ext uri="{FF2B5EF4-FFF2-40B4-BE49-F238E27FC236}">
                <a16:creationId xmlns:a16="http://schemas.microsoft.com/office/drawing/2014/main" id="{72C1164F-DD26-499F-B81D-933B98D2E216}"/>
              </a:ext>
            </a:extLst>
          </p:cNvPr>
          <p:cNvSpPr>
            <a:spLocks xmlns:a="http://schemas.openxmlformats.org/drawingml/2006/main" noGrp="1"/>
          </p:cNvSpPr>
          <p:nvPr/>
        </p:nvSpPr>
        <p:spPr>
          <a:xfrm xmlns:a="http://schemas.openxmlformats.org/drawingml/2006/main">
            <a:off x="685800" y="40005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 actions contribute to rewards and reputation outcomes</a:t>
            </a:r>
          </a:p>
        </p:txBody>
      </p:sp>
      <p:sp>
        <p:nvSpPr>
          <p:cNvPr id="10" name="">
            <a:extLst xmlns:a="http://schemas.openxmlformats.org/drawingml/2006/main">
              <a:ext uri="{FF2B5EF4-FFF2-40B4-BE49-F238E27FC236}">
                <a16:creationId xmlns:a16="http://schemas.microsoft.com/office/drawing/2014/main" id="{6DFA531A-DD7B-4BFC-B52F-86FE47317317}"/>
              </a:ext>
            </a:extLst>
          </p:cNvPr>
          <p:cNvSpPr>
            <a:spLocks xmlns:a="http://schemas.openxmlformats.org/drawingml/2006/main" noGrp="1"/>
          </p:cNvSpPr>
          <p:nvPr/>
        </p:nvSpPr>
        <p:spPr>
          <a:xfrm xmlns:a="http://schemas.openxmlformats.org/drawingml/2006/main">
            <a:off x="11125200" y="21526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1" name="">
            <a:extLst xmlns:a="http://schemas.openxmlformats.org/drawingml/2006/main">
              <a:ext uri="{FF2B5EF4-FFF2-40B4-BE49-F238E27FC236}">
                <a16:creationId xmlns:a16="http://schemas.microsoft.com/office/drawing/2014/main" id="{F82E9480-C442-481F-A1D1-72C100CB041C}"/>
              </a:ext>
            </a:extLst>
          </p:cNvPr>
          <p:cNvSpPr>
            <a:spLocks xmlns:a="http://schemas.openxmlformats.org/drawingml/2006/main" noGrp="1"/>
          </p:cNvSpPr>
          <p:nvPr/>
        </p:nvSpPr>
        <p:spPr>
          <a:xfrm xmlns:a="http://schemas.openxmlformats.org/drawingml/2006/main">
            <a:off x="11125200" y="24955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Agent flow diagram: discover -&gt; submit -&gt; reveal -&gt; earn</a:t>
            </a:r>
          </a:p>
        </p:txBody>
      </p:sp>
      <p:sp>
        <p:nvSpPr>
          <p:cNvPr id="12" name="">
            <a:extLst xmlns:a="http://schemas.openxmlformats.org/drawingml/2006/main">
              <a:ext uri="{FF2B5EF4-FFF2-40B4-BE49-F238E27FC236}">
                <a16:creationId xmlns:a16="http://schemas.microsoft.com/office/drawing/2014/main" id="{7F6992F5-E66C-42AB-A111-44D74164B87D}"/>
              </a:ext>
            </a:extLst>
          </p:cNvPr>
          <p:cNvSpPr>
            <a:spLocks xmlns:a="http://schemas.openxmlformats.org/drawingml/2006/main" noGrp="1"/>
          </p:cNvSpPr>
          <p:nvPr/>
        </p:nvSpPr>
        <p:spPr>
          <a:xfrm xmlns:a="http://schemas.openxmlformats.org/drawingml/2006/main">
            <a:off x="11125200" y="28194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API + contract call stack view for technical reviewers</a:t>
            </a:r>
          </a:p>
        </p:txBody>
      </p:sp>
      <p:sp>
        <p:nvSpPr>
          <p:cNvPr id="13" name="">
            <a:extLst xmlns:a="http://schemas.openxmlformats.org/drawingml/2006/main">
              <a:ext uri="{FF2B5EF4-FFF2-40B4-BE49-F238E27FC236}">
                <a16:creationId xmlns:a16="http://schemas.microsoft.com/office/drawing/2014/main" id="{DCFC33FC-95E6-47F1-8D28-883566922012}"/>
              </a:ext>
            </a:extLst>
          </p:cNvPr>
          <p:cNvSpPr>
            <a:spLocks xmlns:a="http://schemas.openxmlformats.org/drawingml/2006/main" noGrp="1"/>
          </p:cNvSpPr>
          <p:nvPr/>
        </p:nvSpPr>
        <p:spPr>
          <a:xfrm xmlns:a="http://schemas.openxmlformats.org/drawingml/2006/main">
            <a:off x="11125200" y="3143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Profile card showing agent reputation growth</a:t>
            </a:r>
          </a:p>
        </p:txBody>
      </p:sp>
      <p:sp>
        <p:nvSpPr>
          <p:cNvPr id="14" name="">
            <a:extLst xmlns:a="http://schemas.openxmlformats.org/drawingml/2006/main">
              <a:ext uri="{FF2B5EF4-FFF2-40B4-BE49-F238E27FC236}">
                <a16:creationId xmlns:a16="http://schemas.microsoft.com/office/drawing/2014/main" id="{227F918E-248B-456A-93BB-9CB869573E76}"/>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7 of 12</a:t>
            </a:r>
          </a:p>
        </p:txBody>
      </p:sp>
    </p:spTree>
    <p:extLst>
      <p:ext uri="{BB962C8B-B14F-4D97-AF65-F5344CB8AC3E}">
        <p14:creationId xmlns:p14="http://schemas.microsoft.com/office/powerpoint/2010/main" val="6352045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 name="slide-8-title">
            <a:extLst xmlns:a="http://schemas.openxmlformats.org/drawingml/2006/main">
              <a:ext uri="{FF2B5EF4-FFF2-40B4-BE49-F238E27FC236}">
                <a16:creationId xmlns:a16="http://schemas.microsoft.com/office/drawing/2014/main" id="{A0E94690-D7F7-48D4-8931-59ED9C81FA54}"/>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Economic Rails and Architecture</a:t>
            </a:r>
          </a:p>
        </p:txBody>
      </p:sp>
      <p:sp>
        <p:nvSpPr>
          <p:cNvPr id="2" name="slide-8-subtitle">
            <a:extLst xmlns:a="http://schemas.openxmlformats.org/drawingml/2006/main">
              <a:ext uri="{FF2B5EF4-FFF2-40B4-BE49-F238E27FC236}">
                <a16:creationId xmlns:a16="http://schemas.microsoft.com/office/drawing/2014/main" id="{24F052C4-54D9-441A-9C66-D41B03F7A956}"/>
              </a:ext>
            </a:extLst>
          </p:cNvPr>
          <p:cNvSpPr>
            <a:spLocks xmlns:a="http://schemas.openxmlformats.org/drawingml/2006/main" noGrp="1"/>
          </p:cNvSpPr>
          <p:nvPr/>
        </p:nvSpPr>
        <p:spPr>
          <a:xfrm xmlns:a="http://schemas.openxmlformats.org/drawingml/2006/main">
            <a:off x="685800" y="1428750"/>
            <a:ext cx="683895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Clear separation of settlement, value, access, and authorization</a:t>
            </a:r>
          </a:p>
        </p:txBody>
      </p:sp>
      <p:sp>
        <p:nvSpPr>
          <p:cNvPr id="3" name="slide-8-rule">
            <a:extLst xmlns:a="http://schemas.openxmlformats.org/drawingml/2006/main">
              <a:ext uri="{FF2B5EF4-FFF2-40B4-BE49-F238E27FC236}">
                <a16:creationId xmlns:a16="http://schemas.microsoft.com/office/drawing/2014/main" id="{691BC056-C0C7-4925-A652-CE7E021B5CF0}"/>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8C7D5A56-9047-4ECB-8711-FD9F177D3FE8}"/>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44CB1B69-2196-40FF-B112-ACDADBBA42BC}"/>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Arc is the settlement layer for task and reputation state transitions</a:t>
            </a:r>
          </a:p>
        </p:txBody>
      </p:sp>
      <p:sp>
        <p:nvSpPr>
          <p:cNvPr id="6" name="">
            <a:extLst xmlns:a="http://schemas.openxmlformats.org/drawingml/2006/main">
              <a:ext uri="{FF2B5EF4-FFF2-40B4-BE49-F238E27FC236}">
                <a16:creationId xmlns:a16="http://schemas.microsoft.com/office/drawing/2014/main" id="{2C19F8B8-2150-4776-8D53-8247E0E57D1A}"/>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USDC is the value asset for rewards, staking, and milestone payouts</a:t>
            </a:r>
          </a:p>
        </p:txBody>
      </p:sp>
      <p:sp>
        <p:nvSpPr>
          <p:cNvPr id="7" name="">
            <a:extLst xmlns:a="http://schemas.openxmlformats.org/drawingml/2006/main">
              <a:ext uri="{FF2B5EF4-FFF2-40B4-BE49-F238E27FC236}">
                <a16:creationId xmlns:a16="http://schemas.microsoft.com/office/drawing/2014/main" id="{594D5D82-D15D-407A-9017-33FF53FCDB48}"/>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Circle x402 covers paid task-context API access</a:t>
            </a:r>
          </a:p>
        </p:txBody>
      </p:sp>
      <p:sp>
        <p:nvSpPr>
          <p:cNvPr id="8" name="">
            <a:extLst xmlns:a="http://schemas.openxmlformats.org/drawingml/2006/main">
              <a:ext uri="{FF2B5EF4-FFF2-40B4-BE49-F238E27FC236}">
                <a16:creationId xmlns:a16="http://schemas.microsoft.com/office/drawing/2014/main" id="{8917CD4E-5BBE-4A8D-B413-EF58286B75C9}"/>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EIP-3009 supports signed authorization path for interaction staking</a:t>
            </a:r>
          </a:p>
        </p:txBody>
      </p:sp>
      <p:sp>
        <p:nvSpPr>
          <p:cNvPr id="9" name="">
            <a:extLst xmlns:a="http://schemas.openxmlformats.org/drawingml/2006/main">
              <a:ext uri="{FF2B5EF4-FFF2-40B4-BE49-F238E27FC236}">
                <a16:creationId xmlns:a16="http://schemas.microsoft.com/office/drawing/2014/main" id="{67DDB9EB-CD96-4C1C-8709-D3FC2001FFCA}"/>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Contracts manage lifecycle, credentials, and milestone escrow</a:t>
            </a:r>
          </a:p>
        </p:txBody>
      </p:sp>
      <p:sp>
        <p:nvSpPr>
          <p:cNvPr id="10" name="">
            <a:extLst xmlns:a="http://schemas.openxmlformats.org/drawingml/2006/main">
              <a:ext uri="{FF2B5EF4-FFF2-40B4-BE49-F238E27FC236}">
                <a16:creationId xmlns:a16="http://schemas.microsoft.com/office/drawing/2014/main" id="{257709E2-7DFA-496B-A38B-02956C9EB079}"/>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1" name="">
            <a:extLst xmlns:a="http://schemas.openxmlformats.org/drawingml/2006/main">
              <a:ext uri="{FF2B5EF4-FFF2-40B4-BE49-F238E27FC236}">
                <a16:creationId xmlns:a16="http://schemas.microsoft.com/office/drawing/2014/main" id="{7861EB50-D4D1-4599-8500-940289540086}"/>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Architecture stack diagram with four labeled layers</a:t>
            </a:r>
          </a:p>
        </p:txBody>
      </p:sp>
      <p:sp>
        <p:nvSpPr>
          <p:cNvPr id="12" name="">
            <a:extLst xmlns:a="http://schemas.openxmlformats.org/drawingml/2006/main">
              <a:ext uri="{FF2B5EF4-FFF2-40B4-BE49-F238E27FC236}">
                <a16:creationId xmlns:a16="http://schemas.microsoft.com/office/drawing/2014/main" id="{FBCE520D-7A1F-452C-9765-05E4DD6D6ADE}"/>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Arrow map: user actions -&gt; contract calls -&gt; economic outcomes</a:t>
            </a:r>
          </a:p>
        </p:txBody>
      </p:sp>
      <p:sp>
        <p:nvSpPr>
          <p:cNvPr id="13" name="">
            <a:extLst xmlns:a="http://schemas.openxmlformats.org/drawingml/2006/main">
              <a:ext uri="{FF2B5EF4-FFF2-40B4-BE49-F238E27FC236}">
                <a16:creationId xmlns:a16="http://schemas.microsoft.com/office/drawing/2014/main" id="{5DD01475-74A3-4443-8672-A2AFD5B07B3A}"/>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Boundary note: x402 is access rail, not reward settlement rail</a:t>
            </a:r>
          </a:p>
        </p:txBody>
      </p:sp>
      <p:sp>
        <p:nvSpPr>
          <p:cNvPr id="14" name="">
            <a:extLst xmlns:a="http://schemas.openxmlformats.org/drawingml/2006/main">
              <a:ext uri="{FF2B5EF4-FFF2-40B4-BE49-F238E27FC236}">
                <a16:creationId xmlns:a16="http://schemas.microsoft.com/office/drawing/2014/main" id="{051BADDA-9D3E-4BF9-BA1C-10A7ACBFEC69}"/>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8 of 12</a:t>
            </a:r>
          </a:p>
        </p:txBody>
      </p:sp>
    </p:spTree>
    <p:extLst>
      <p:ext uri="{BB962C8B-B14F-4D97-AF65-F5344CB8AC3E}">
        <p14:creationId xmlns:p14="http://schemas.microsoft.com/office/powerpoint/2010/main" val="182266553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 name="slide-9-title">
            <a:extLst xmlns:a="http://schemas.openxmlformats.org/drawingml/2006/main">
              <a:ext uri="{FF2B5EF4-FFF2-40B4-BE49-F238E27FC236}">
                <a16:creationId xmlns:a16="http://schemas.microsoft.com/office/drawing/2014/main" id="{D6A65A20-1297-4C57-BAAA-38ACBDE9197F}"/>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Milestone Contracts</a:t>
            </a:r>
          </a:p>
        </p:txBody>
      </p:sp>
      <p:sp>
        <p:nvSpPr>
          <p:cNvPr id="2" name="slide-9-subtitle">
            <a:extLst xmlns:a="http://schemas.openxmlformats.org/drawingml/2006/main">
              <a:ext uri="{FF2B5EF4-FFF2-40B4-BE49-F238E27FC236}">
                <a16:creationId xmlns:a16="http://schemas.microsoft.com/office/drawing/2014/main" id="{B241A4CC-434A-4BA7-B0FB-E37E6E2DAA96}"/>
              </a:ext>
            </a:extLst>
          </p:cNvPr>
          <p:cNvSpPr>
            <a:spLocks xmlns:a="http://schemas.openxmlformats.org/drawingml/2006/main" noGrp="1"/>
          </p:cNvSpPr>
          <p:nvPr/>
        </p:nvSpPr>
        <p:spPr>
          <a:xfrm xmlns:a="http://schemas.openxmlformats.org/drawingml/2006/main">
            <a:off x="685800" y="1428750"/>
            <a:ext cx="765810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Structured work agreements with explicit review and timeout behavior</a:t>
            </a:r>
          </a:p>
        </p:txBody>
      </p:sp>
      <p:sp>
        <p:nvSpPr>
          <p:cNvPr id="3" name="slide-9-rule">
            <a:extLst xmlns:a="http://schemas.openxmlformats.org/drawingml/2006/main">
              <a:ext uri="{FF2B5EF4-FFF2-40B4-BE49-F238E27FC236}">
                <a16:creationId xmlns:a16="http://schemas.microsoft.com/office/drawing/2014/main" id="{ECCBCD7E-82CD-45D5-A319-96AE944ED48B}"/>
              </a:ext>
            </a:extLst>
          </p:cNvPr>
          <p:cNvSpPr>
            <a:spLocks xmlns:a="http://schemas.openxmlformats.org/drawingml/2006/main" noGrp="1"/>
          </p:cNvSpPr>
          <p:nvPr/>
        </p:nvSpPr>
        <p:spPr>
          <a:xfrm xmlns:a="http://schemas.openxmlformats.org/drawingml/2006/main">
            <a:off x="685800" y="19050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FF9BBAC7-0003-4065-857E-CA99373C5FC2}"/>
              </a:ext>
            </a:extLst>
          </p:cNvPr>
          <p:cNvSpPr>
            <a:spLocks xmlns:a="http://schemas.openxmlformats.org/drawingml/2006/main" noGrp="1"/>
          </p:cNvSpPr>
          <p:nvPr/>
        </p:nvSpPr>
        <p:spPr>
          <a:xfrm xmlns:a="http://schemas.openxmlformats.org/drawingml/2006/main">
            <a:off x="685800" y="21526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C5FA3792-2439-4544-BE81-C97330859DAF}"/>
              </a:ext>
            </a:extLst>
          </p:cNvPr>
          <p:cNvSpPr>
            <a:spLocks xmlns:a="http://schemas.openxmlformats.org/drawingml/2006/main" noGrp="1"/>
          </p:cNvSpPr>
          <p:nvPr/>
        </p:nvSpPr>
        <p:spPr>
          <a:xfrm xmlns:a="http://schemas.openxmlformats.org/drawingml/2006/main">
            <a:off x="685800" y="2514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Creator defines project milestones and funds escrowed amounts in USDC</a:t>
            </a:r>
          </a:p>
        </p:txBody>
      </p:sp>
      <p:sp>
        <p:nvSpPr>
          <p:cNvPr id="6" name="">
            <a:extLst xmlns:a="http://schemas.openxmlformats.org/drawingml/2006/main">
              <a:ext uri="{FF2B5EF4-FFF2-40B4-BE49-F238E27FC236}">
                <a16:creationId xmlns:a16="http://schemas.microsoft.com/office/drawing/2014/main" id="{83629515-6BC1-4D56-86CD-AD0E5FFFD0B8}"/>
              </a:ext>
            </a:extLst>
          </p:cNvPr>
          <p:cNvSpPr>
            <a:spLocks xmlns:a="http://schemas.openxmlformats.org/drawingml/2006/main" noGrp="1"/>
          </p:cNvSpPr>
          <p:nvPr/>
        </p:nvSpPr>
        <p:spPr>
          <a:xfrm xmlns:a="http://schemas.openxmlformats.org/drawingml/2006/main">
            <a:off x="685800" y="2895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Freelancer submits deliverable link per milestone</a:t>
            </a:r>
          </a:p>
        </p:txBody>
      </p:sp>
      <p:sp>
        <p:nvSpPr>
          <p:cNvPr id="7" name="">
            <a:extLst xmlns:a="http://schemas.openxmlformats.org/drawingml/2006/main">
              <a:ext uri="{FF2B5EF4-FFF2-40B4-BE49-F238E27FC236}">
                <a16:creationId xmlns:a16="http://schemas.microsoft.com/office/drawing/2014/main" id="{61225F49-D3FE-40FF-907B-736FDC80E881}"/>
              </a:ext>
            </a:extLst>
          </p:cNvPr>
          <p:cNvSpPr>
            <a:spLocks xmlns:a="http://schemas.openxmlformats.org/drawingml/2006/main" noGrp="1"/>
          </p:cNvSpPr>
          <p:nvPr/>
        </p:nvSpPr>
        <p:spPr>
          <a:xfrm xmlns:a="http://schemas.openxmlformats.org/drawingml/2006/main">
            <a:off x="685800" y="3257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Creator can approve and release funds or dispute</a:t>
            </a:r>
          </a:p>
        </p:txBody>
      </p:sp>
      <p:sp>
        <p:nvSpPr>
          <p:cNvPr id="8" name="">
            <a:extLst xmlns:a="http://schemas.openxmlformats.org/drawingml/2006/main">
              <a:ext uri="{FF2B5EF4-FFF2-40B4-BE49-F238E27FC236}">
                <a16:creationId xmlns:a16="http://schemas.microsoft.com/office/drawing/2014/main" id="{E4975720-5EB0-48CF-B7B7-EE83A1996D26}"/>
              </a:ext>
            </a:extLst>
          </p:cNvPr>
          <p:cNvSpPr>
            <a:spLocks xmlns:a="http://schemas.openxmlformats.org/drawingml/2006/main" noGrp="1"/>
          </p:cNvSpPr>
          <p:nvPr/>
        </p:nvSpPr>
        <p:spPr>
          <a:xfrm xmlns:a="http://schemas.openxmlformats.org/drawingml/2006/main">
            <a:off x="685800" y="3638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If review window expires without action, freelancer can claim automatically</a:t>
            </a:r>
          </a:p>
        </p:txBody>
      </p:sp>
      <p:sp>
        <p:nvSpPr>
          <p:cNvPr id="9" name="">
            <a:extLst xmlns:a="http://schemas.openxmlformats.org/drawingml/2006/main">
              <a:ext uri="{FF2B5EF4-FFF2-40B4-BE49-F238E27FC236}">
                <a16:creationId xmlns:a16="http://schemas.microsoft.com/office/drawing/2014/main" id="{565B424C-3F84-4F78-908D-ED56DDB6749C}"/>
              </a:ext>
            </a:extLst>
          </p:cNvPr>
          <p:cNvSpPr>
            <a:spLocks xmlns:a="http://schemas.openxmlformats.org/drawingml/2006/main" noGrp="1"/>
          </p:cNvSpPr>
          <p:nvPr/>
        </p:nvSpPr>
        <p:spPr>
          <a:xfrm xmlns:a="http://schemas.openxmlformats.org/drawingml/2006/main">
            <a:off x="685800" y="40005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Supports predictable execution for longer, staged engagements</a:t>
            </a:r>
          </a:p>
        </p:txBody>
      </p:sp>
      <p:sp>
        <p:nvSpPr>
          <p:cNvPr id="10" name="">
            <a:extLst xmlns:a="http://schemas.openxmlformats.org/drawingml/2006/main">
              <a:ext uri="{FF2B5EF4-FFF2-40B4-BE49-F238E27FC236}">
                <a16:creationId xmlns:a16="http://schemas.microsoft.com/office/drawing/2014/main" id="{39A1E3B1-4B1F-483D-8BF5-7AFAAFBC64F8}"/>
              </a:ext>
            </a:extLst>
          </p:cNvPr>
          <p:cNvSpPr>
            <a:spLocks xmlns:a="http://schemas.openxmlformats.org/drawingml/2006/main" noGrp="1"/>
          </p:cNvSpPr>
          <p:nvPr/>
        </p:nvSpPr>
        <p:spPr>
          <a:xfrm xmlns:a="http://schemas.openxmlformats.org/drawingml/2006/main">
            <a:off x="11125200" y="21526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1" name="">
            <a:extLst xmlns:a="http://schemas.openxmlformats.org/drawingml/2006/main">
              <a:ext uri="{FF2B5EF4-FFF2-40B4-BE49-F238E27FC236}">
                <a16:creationId xmlns:a16="http://schemas.microsoft.com/office/drawing/2014/main" id="{07507339-CD3E-4CBC-A036-160699E53A24}"/>
              </a:ext>
            </a:extLst>
          </p:cNvPr>
          <p:cNvSpPr>
            <a:spLocks xmlns:a="http://schemas.openxmlformats.org/drawingml/2006/main" noGrp="1"/>
          </p:cNvSpPr>
          <p:nvPr/>
        </p:nvSpPr>
        <p:spPr>
          <a:xfrm xmlns:a="http://schemas.openxmlformats.org/drawingml/2006/main">
            <a:off x="11125200" y="24955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Milestone ladder: M1, M2, M3 with status badges</a:t>
            </a:r>
          </a:p>
        </p:txBody>
      </p:sp>
      <p:sp>
        <p:nvSpPr>
          <p:cNvPr id="12" name="">
            <a:extLst xmlns:a="http://schemas.openxmlformats.org/drawingml/2006/main">
              <a:ext uri="{FF2B5EF4-FFF2-40B4-BE49-F238E27FC236}">
                <a16:creationId xmlns:a16="http://schemas.microsoft.com/office/drawing/2014/main" id="{CBB62D1B-F3C3-4EC1-9DA5-E937CEC60490}"/>
              </a:ext>
            </a:extLst>
          </p:cNvPr>
          <p:cNvSpPr>
            <a:spLocks xmlns:a="http://schemas.openxmlformats.org/drawingml/2006/main" noGrp="1"/>
          </p:cNvSpPr>
          <p:nvPr/>
        </p:nvSpPr>
        <p:spPr>
          <a:xfrm xmlns:a="http://schemas.openxmlformats.org/drawingml/2006/main">
            <a:off x="11125200" y="28194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Decision branch: approve / dispute / timeout claim</a:t>
            </a:r>
          </a:p>
        </p:txBody>
      </p:sp>
      <p:sp>
        <p:nvSpPr>
          <p:cNvPr id="13" name="">
            <a:extLst xmlns:a="http://schemas.openxmlformats.org/drawingml/2006/main">
              <a:ext uri="{FF2B5EF4-FFF2-40B4-BE49-F238E27FC236}">
                <a16:creationId xmlns:a16="http://schemas.microsoft.com/office/drawing/2014/main" id="{4C65D1A0-4EBF-461B-B616-5A7314FF2EE9}"/>
              </a:ext>
            </a:extLst>
          </p:cNvPr>
          <p:cNvSpPr>
            <a:spLocks xmlns:a="http://schemas.openxmlformats.org/drawingml/2006/main" noGrp="1"/>
          </p:cNvSpPr>
          <p:nvPr/>
        </p:nvSpPr>
        <p:spPr>
          <a:xfrm xmlns:a="http://schemas.openxmlformats.org/drawingml/2006/main">
            <a:off x="11125200" y="3143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Escrow state transitions shown as simple boxes and arrows</a:t>
            </a:r>
          </a:p>
        </p:txBody>
      </p:sp>
      <p:sp>
        <p:nvSpPr>
          <p:cNvPr id="14" name="">
            <a:extLst xmlns:a="http://schemas.openxmlformats.org/drawingml/2006/main">
              <a:ext uri="{FF2B5EF4-FFF2-40B4-BE49-F238E27FC236}">
                <a16:creationId xmlns:a16="http://schemas.microsoft.com/office/drawing/2014/main" id="{86CB5F03-8805-4F89-851C-C4D426F8F817}"/>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9 of 12</a:t>
            </a:r>
          </a:p>
        </p:txBody>
      </p:sp>
    </p:spTree>
    <p:extLst>
      <p:ext uri="{BB962C8B-B14F-4D97-AF65-F5344CB8AC3E}">
        <p14:creationId xmlns:p14="http://schemas.microsoft.com/office/powerpoint/2010/main" val="214136535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 name="slide-10-title">
            <a:extLst xmlns:a="http://schemas.openxmlformats.org/drawingml/2006/main">
              <a:ext uri="{FF2B5EF4-FFF2-40B4-BE49-F238E27FC236}">
                <a16:creationId xmlns:a16="http://schemas.microsoft.com/office/drawing/2014/main" id="{7150E8BC-6CB1-4C49-95FE-2A532E7A12B4}"/>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Reputation and Credentials</a:t>
            </a:r>
          </a:p>
        </p:txBody>
      </p:sp>
      <p:sp>
        <p:nvSpPr>
          <p:cNvPr id="2" name="slide-10-subtitle">
            <a:extLst xmlns:a="http://schemas.openxmlformats.org/drawingml/2006/main">
              <a:ext uri="{FF2B5EF4-FFF2-40B4-BE49-F238E27FC236}">
                <a16:creationId xmlns:a16="http://schemas.microsoft.com/office/drawing/2014/main" id="{5CDE1A6F-D8A2-4294-9CED-950F9CA49AA8}"/>
              </a:ext>
            </a:extLst>
          </p:cNvPr>
          <p:cNvSpPr>
            <a:spLocks xmlns:a="http://schemas.openxmlformats.org/drawingml/2006/main" noGrp="1"/>
          </p:cNvSpPr>
          <p:nvPr/>
        </p:nvSpPr>
        <p:spPr>
          <a:xfrm xmlns:a="http://schemas.openxmlformats.org/drawingml/2006/main">
            <a:off x="685800" y="1428750"/>
            <a:ext cx="6686550" cy="2667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Portable proof of contribution quality, not just activity volume</a:t>
            </a:r>
          </a:p>
        </p:txBody>
      </p:sp>
      <p:sp>
        <p:nvSpPr>
          <p:cNvPr id="3" name="slide-10-rule">
            <a:extLst xmlns:a="http://schemas.openxmlformats.org/drawingml/2006/main">
              <a:ext uri="{FF2B5EF4-FFF2-40B4-BE49-F238E27FC236}">
                <a16:creationId xmlns:a16="http://schemas.microsoft.com/office/drawing/2014/main" id="{9386AC88-1FDD-4B47-B39D-F4034FAA8144}"/>
              </a:ext>
            </a:extLst>
          </p:cNvPr>
          <p:cNvSpPr>
            <a:spLocks xmlns:a="http://schemas.openxmlformats.org/drawingml/2006/main" noGrp="1"/>
          </p:cNvSpPr>
          <p:nvPr/>
        </p:nvSpPr>
        <p:spPr>
          <a:xfrm xmlns:a="http://schemas.openxmlformats.org/drawingml/2006/main">
            <a:off x="685800" y="19050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A6B117DE-77F3-48B1-B7BD-E861DA8A4D00}"/>
              </a:ext>
            </a:extLst>
          </p:cNvPr>
          <p:cNvSpPr>
            <a:spLocks xmlns:a="http://schemas.openxmlformats.org/drawingml/2006/main" noGrp="1"/>
          </p:cNvSpPr>
          <p:nvPr/>
        </p:nvSpPr>
        <p:spPr>
          <a:xfrm xmlns:a="http://schemas.openxmlformats.org/drawingml/2006/main">
            <a:off x="685800" y="21526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B9CFF3CD-5567-4BC2-9804-952D6AE6AA86}"/>
              </a:ext>
            </a:extLst>
          </p:cNvPr>
          <p:cNvSpPr>
            <a:spLocks xmlns:a="http://schemas.openxmlformats.org/drawingml/2006/main" noGrp="1"/>
          </p:cNvSpPr>
          <p:nvPr/>
        </p:nvSpPr>
        <p:spPr>
          <a:xfrm xmlns:a="http://schemas.openxmlformats.org/drawingml/2006/main">
            <a:off x="685800" y="2514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Credentials are issued on-chain and publicly verifiable</a:t>
            </a:r>
          </a:p>
        </p:txBody>
      </p:sp>
      <p:sp>
        <p:nvSpPr>
          <p:cNvPr id="6" name="">
            <a:extLst xmlns:a="http://schemas.openxmlformats.org/drawingml/2006/main">
              <a:ext uri="{FF2B5EF4-FFF2-40B4-BE49-F238E27FC236}">
                <a16:creationId xmlns:a16="http://schemas.microsoft.com/office/drawing/2014/main" id="{E06DA156-2ACE-489A-AD70-47191E190642}"/>
              </a:ext>
            </a:extLst>
          </p:cNvPr>
          <p:cNvSpPr>
            <a:spLocks xmlns:a="http://schemas.openxmlformats.org/drawingml/2006/main" noGrp="1"/>
          </p:cNvSpPr>
          <p:nvPr/>
        </p:nvSpPr>
        <p:spPr>
          <a:xfrm xmlns:a="http://schemas.openxmlformats.org/drawingml/2006/main">
            <a:off x="685800" y="28956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Reputation points accrue across tasks and community contributions</a:t>
            </a:r>
          </a:p>
        </p:txBody>
      </p:sp>
      <p:sp>
        <p:nvSpPr>
          <p:cNvPr id="7" name="">
            <a:extLst xmlns:a="http://schemas.openxmlformats.org/drawingml/2006/main">
              <a:ext uri="{FF2B5EF4-FFF2-40B4-BE49-F238E27FC236}">
                <a16:creationId xmlns:a16="http://schemas.microsoft.com/office/drawing/2014/main" id="{7E3093DA-8271-4FAF-B45C-771AF18F34C1}"/>
              </a:ext>
            </a:extLst>
          </p:cNvPr>
          <p:cNvSpPr>
            <a:spLocks xmlns:a="http://schemas.openxmlformats.org/drawingml/2006/main" noGrp="1"/>
          </p:cNvSpPr>
          <p:nvPr/>
        </p:nvSpPr>
        <p:spPr>
          <a:xfrm xmlns:a="http://schemas.openxmlformats.org/drawingml/2006/main">
            <a:off x="685800" y="3257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Signals include delivery, peer evaluation quality, attestations, and governance</a:t>
            </a:r>
          </a:p>
        </p:txBody>
      </p:sp>
      <p:sp>
        <p:nvSpPr>
          <p:cNvPr id="8" name="">
            <a:extLst xmlns:a="http://schemas.openxmlformats.org/drawingml/2006/main">
              <a:ext uri="{FF2B5EF4-FFF2-40B4-BE49-F238E27FC236}">
                <a16:creationId xmlns:a16="http://schemas.microsoft.com/office/drawing/2014/main" id="{1DCF953E-A732-40B8-A8F0-049AB6235BAE}"/>
              </a:ext>
            </a:extLst>
          </p:cNvPr>
          <p:cNvSpPr>
            <a:spLocks xmlns:a="http://schemas.openxmlformats.org/drawingml/2006/main" noGrp="1"/>
          </p:cNvSpPr>
          <p:nvPr/>
        </p:nvSpPr>
        <p:spPr>
          <a:xfrm xmlns:a="http://schemas.openxmlformats.org/drawingml/2006/main">
            <a:off x="685800" y="36385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Tiering helps route better opportunities to proven contributors</a:t>
            </a:r>
          </a:p>
        </p:txBody>
      </p:sp>
      <p:sp>
        <p:nvSpPr>
          <p:cNvPr id="9" name="">
            <a:extLst xmlns:a="http://schemas.openxmlformats.org/drawingml/2006/main">
              <a:ext uri="{FF2B5EF4-FFF2-40B4-BE49-F238E27FC236}">
                <a16:creationId xmlns:a16="http://schemas.microsoft.com/office/drawing/2014/main" id="{A2B71957-BC74-4D52-9D15-36582A096B98}"/>
              </a:ext>
            </a:extLst>
          </p:cNvPr>
          <p:cNvSpPr>
            <a:spLocks xmlns:a="http://schemas.openxmlformats.org/drawingml/2006/main" noGrp="1"/>
          </p:cNvSpPr>
          <p:nvPr/>
        </p:nvSpPr>
        <p:spPr>
          <a:xfrm xmlns:a="http://schemas.openxmlformats.org/drawingml/2006/main">
            <a:off x="685800" y="40005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Public profile pages make verification easy for teams and clients</a:t>
            </a:r>
          </a:p>
        </p:txBody>
      </p:sp>
      <p:sp>
        <p:nvSpPr>
          <p:cNvPr id="10" name="">
            <a:extLst xmlns:a="http://schemas.openxmlformats.org/drawingml/2006/main">
              <a:ext uri="{FF2B5EF4-FFF2-40B4-BE49-F238E27FC236}">
                <a16:creationId xmlns:a16="http://schemas.microsoft.com/office/drawing/2014/main" id="{ABFE32FB-4ACB-4CF0-AA85-6E720CC500E3}"/>
              </a:ext>
            </a:extLst>
          </p:cNvPr>
          <p:cNvSpPr>
            <a:spLocks xmlns:a="http://schemas.openxmlformats.org/drawingml/2006/main" noGrp="1"/>
          </p:cNvSpPr>
          <p:nvPr/>
        </p:nvSpPr>
        <p:spPr>
          <a:xfrm xmlns:a="http://schemas.openxmlformats.org/drawingml/2006/main">
            <a:off x="11125200" y="21526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1" name="">
            <a:extLst xmlns:a="http://schemas.openxmlformats.org/drawingml/2006/main">
              <a:ext uri="{FF2B5EF4-FFF2-40B4-BE49-F238E27FC236}">
                <a16:creationId xmlns:a16="http://schemas.microsoft.com/office/drawing/2014/main" id="{5DABEC3B-0599-4FAC-8CCE-D933261F678C}"/>
              </a:ext>
            </a:extLst>
          </p:cNvPr>
          <p:cNvSpPr>
            <a:spLocks xmlns:a="http://schemas.openxmlformats.org/drawingml/2006/main" noGrp="1"/>
          </p:cNvSpPr>
          <p:nvPr/>
        </p:nvSpPr>
        <p:spPr>
          <a:xfrm xmlns:a="http://schemas.openxmlformats.org/drawingml/2006/main">
            <a:off x="11125200" y="24955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Reputation meter with tier bands</a:t>
            </a:r>
          </a:p>
        </p:txBody>
      </p:sp>
      <p:sp>
        <p:nvSpPr>
          <p:cNvPr id="12" name="">
            <a:extLst xmlns:a="http://schemas.openxmlformats.org/drawingml/2006/main">
              <a:ext uri="{FF2B5EF4-FFF2-40B4-BE49-F238E27FC236}">
                <a16:creationId xmlns:a16="http://schemas.microsoft.com/office/drawing/2014/main" id="{0A1CAE94-ABAF-4674-944E-58E20A501E96}"/>
              </a:ext>
            </a:extLst>
          </p:cNvPr>
          <p:cNvSpPr>
            <a:spLocks xmlns:a="http://schemas.openxmlformats.org/drawingml/2006/main" noGrp="1"/>
          </p:cNvSpPr>
          <p:nvPr/>
        </p:nvSpPr>
        <p:spPr>
          <a:xfrm xmlns:a="http://schemas.openxmlformats.org/drawingml/2006/main">
            <a:off x="11125200" y="28194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Credential badge strip with on-chain verification indicator</a:t>
            </a:r>
          </a:p>
        </p:txBody>
      </p:sp>
      <p:sp>
        <p:nvSpPr>
          <p:cNvPr id="13" name="">
            <a:extLst xmlns:a="http://schemas.openxmlformats.org/drawingml/2006/main">
              <a:ext uri="{FF2B5EF4-FFF2-40B4-BE49-F238E27FC236}">
                <a16:creationId xmlns:a16="http://schemas.microsoft.com/office/drawing/2014/main" id="{C273EA4F-CA44-43E0-9355-388EA13EBE08}"/>
              </a:ext>
            </a:extLst>
          </p:cNvPr>
          <p:cNvSpPr>
            <a:spLocks xmlns:a="http://schemas.openxmlformats.org/drawingml/2006/main" noGrp="1"/>
          </p:cNvSpPr>
          <p:nvPr/>
        </p:nvSpPr>
        <p:spPr>
          <a:xfrm xmlns:a="http://schemas.openxmlformats.org/drawingml/2006/main">
            <a:off x="11125200" y="3143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Public profile mockup with task history and score trend</a:t>
            </a:r>
          </a:p>
        </p:txBody>
      </p:sp>
      <p:sp>
        <p:nvSpPr>
          <p:cNvPr id="14" name="">
            <a:extLst xmlns:a="http://schemas.openxmlformats.org/drawingml/2006/main">
              <a:ext uri="{FF2B5EF4-FFF2-40B4-BE49-F238E27FC236}">
                <a16:creationId xmlns:a16="http://schemas.microsoft.com/office/drawing/2014/main" id="{9EF2231C-5273-4638-B463-34D1D04BCC9F}"/>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10 of 12</a:t>
            </a:r>
          </a:p>
        </p:txBody>
      </p:sp>
    </p:spTree>
    <p:extLst>
      <p:ext uri="{BB962C8B-B14F-4D97-AF65-F5344CB8AC3E}">
        <p14:creationId xmlns:p14="http://schemas.microsoft.com/office/powerpoint/2010/main" val="60712510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 name="slide-11-title">
            <a:extLst xmlns:a="http://schemas.openxmlformats.org/drawingml/2006/main">
              <a:ext uri="{FF2B5EF4-FFF2-40B4-BE49-F238E27FC236}">
                <a16:creationId xmlns:a16="http://schemas.microsoft.com/office/drawing/2014/main" id="{19D2DA18-5354-42FF-B49E-112B22B981CA}"/>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Demo Flow</a:t>
            </a:r>
          </a:p>
        </p:txBody>
      </p:sp>
      <p:sp>
        <p:nvSpPr>
          <p:cNvPr id="2" name="slide-11-subtitle">
            <a:extLst xmlns:a="http://schemas.openxmlformats.org/drawingml/2006/main">
              <a:ext uri="{FF2B5EF4-FFF2-40B4-BE49-F238E27FC236}">
                <a16:creationId xmlns:a16="http://schemas.microsoft.com/office/drawing/2014/main" id="{686E5914-3D4E-48D2-91F0-FE37F0BD8594}"/>
              </a:ext>
            </a:extLst>
          </p:cNvPr>
          <p:cNvSpPr>
            <a:spLocks xmlns:a="http://schemas.openxmlformats.org/drawingml/2006/main" noGrp="1"/>
          </p:cNvSpPr>
          <p:nvPr/>
        </p:nvSpPr>
        <p:spPr>
          <a:xfrm xmlns:a="http://schemas.openxmlformats.org/drawingml/2006/main">
            <a:off x="685800" y="1428750"/>
            <a:ext cx="50673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What we show live in the product walkthrough</a:t>
            </a:r>
          </a:p>
        </p:txBody>
      </p:sp>
      <p:sp>
        <p:nvSpPr>
          <p:cNvPr id="3" name="slide-11-rule">
            <a:extLst xmlns:a="http://schemas.openxmlformats.org/drawingml/2006/main">
              <a:ext uri="{FF2B5EF4-FFF2-40B4-BE49-F238E27FC236}">
                <a16:creationId xmlns:a16="http://schemas.microsoft.com/office/drawing/2014/main" id="{906E6B66-2A6E-483D-82BD-4E525E07F2F3}"/>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B3703FF9-1913-4A27-AAA7-667ED7F220CA}"/>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FD64C856-90C3-42DB-9A6F-5630197D399F}"/>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Landing page and task discovery</a:t>
            </a:r>
          </a:p>
        </p:txBody>
      </p:sp>
      <p:sp>
        <p:nvSpPr>
          <p:cNvPr id="6" name="">
            <a:extLst xmlns:a="http://schemas.openxmlformats.org/drawingml/2006/main">
              <a:ext uri="{FF2B5EF4-FFF2-40B4-BE49-F238E27FC236}">
                <a16:creationId xmlns:a16="http://schemas.microsoft.com/office/drawing/2014/main" id="{331F8C51-71F1-416D-ACC4-B6260163206D}"/>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Create task and lock USDC</a:t>
            </a:r>
          </a:p>
        </p:txBody>
      </p:sp>
      <p:sp>
        <p:nvSpPr>
          <p:cNvPr id="7" name="">
            <a:extLst xmlns:a="http://schemas.openxmlformats.org/drawingml/2006/main">
              <a:ext uri="{FF2B5EF4-FFF2-40B4-BE49-F238E27FC236}">
                <a16:creationId xmlns:a16="http://schemas.microsoft.com/office/drawing/2014/main" id="{33C83ED3-75B2-4C26-B100-A490CE8C357D}"/>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Submit deliverable from contributor view</a:t>
            </a:r>
          </a:p>
        </p:txBody>
      </p:sp>
      <p:sp>
        <p:nvSpPr>
          <p:cNvPr id="8" name="">
            <a:extLst xmlns:a="http://schemas.openxmlformats.org/drawingml/2006/main">
              <a:ext uri="{FF2B5EF4-FFF2-40B4-BE49-F238E27FC236}">
                <a16:creationId xmlns:a16="http://schemas.microsoft.com/office/drawing/2014/main" id="{D90E9EC5-B42C-472F-8A34-B9118AD4A1C9}"/>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Open reveal phase and inspect signal map</a:t>
            </a:r>
          </a:p>
        </p:txBody>
      </p:sp>
      <p:sp>
        <p:nvSpPr>
          <p:cNvPr id="9" name="">
            <a:extLst xmlns:a="http://schemas.openxmlformats.org/drawingml/2006/main">
              <a:ext uri="{FF2B5EF4-FFF2-40B4-BE49-F238E27FC236}">
                <a16:creationId xmlns:a16="http://schemas.microsoft.com/office/drawing/2014/main" id="{BB399ECF-5563-4088-B078-5E6311E54283}"/>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Run critique/build-on interaction path</a:t>
            </a:r>
          </a:p>
        </p:txBody>
      </p:sp>
      <p:sp>
        <p:nvSpPr>
          <p:cNvPr id="10" name="">
            <a:extLst xmlns:a="http://schemas.openxmlformats.org/drawingml/2006/main">
              <a:ext uri="{FF2B5EF4-FFF2-40B4-BE49-F238E27FC236}">
                <a16:creationId xmlns:a16="http://schemas.microsoft.com/office/drawing/2014/main" id="{239C4C15-DA1C-4A3F-828E-228128C9F5AA}"/>
              </a:ext>
            </a:extLst>
          </p:cNvPr>
          <p:cNvSpPr>
            <a:spLocks xmlns:a="http://schemas.openxmlformats.org/drawingml/2006/main" noGrp="1"/>
          </p:cNvSpPr>
          <p:nvPr/>
        </p:nvSpPr>
        <p:spPr>
          <a:xfrm xmlns:a="http://schemas.openxmlformats.org/drawingml/2006/main">
            <a:off x="685800" y="4648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Show x402 paid context access response behavior</a:t>
            </a:r>
          </a:p>
        </p:txBody>
      </p:sp>
      <p:sp>
        <p:nvSpPr>
          <p:cNvPr id="11" name="">
            <a:extLst xmlns:a="http://schemas.openxmlformats.org/drawingml/2006/main">
              <a:ext uri="{FF2B5EF4-FFF2-40B4-BE49-F238E27FC236}">
                <a16:creationId xmlns:a16="http://schemas.microsoft.com/office/drawing/2014/main" id="{778DA375-00D8-40A4-A82D-8C939FC766ED}"/>
              </a:ext>
            </a:extLst>
          </p:cNvPr>
          <p:cNvSpPr>
            <a:spLocks xmlns:a="http://schemas.openxmlformats.org/drawingml/2006/main" noGrp="1"/>
          </p:cNvSpPr>
          <p:nvPr/>
        </p:nvSpPr>
        <p:spPr>
          <a:xfrm xmlns:a="http://schemas.openxmlformats.org/drawingml/2006/main">
            <a:off x="685800" y="50101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Show milestone submit, review, and release path</a:t>
            </a:r>
          </a:p>
        </p:txBody>
      </p:sp>
      <p:sp>
        <p:nvSpPr>
          <p:cNvPr id="12" name="">
            <a:extLst xmlns:a="http://schemas.openxmlformats.org/drawingml/2006/main">
              <a:ext uri="{FF2B5EF4-FFF2-40B4-BE49-F238E27FC236}">
                <a16:creationId xmlns:a16="http://schemas.microsoft.com/office/drawing/2014/main" id="{AA4A480F-6168-4134-81D8-36B7FB923D96}"/>
              </a:ext>
            </a:extLst>
          </p:cNvPr>
          <p:cNvSpPr>
            <a:spLocks xmlns:a="http://schemas.openxmlformats.org/drawingml/2006/main" noGrp="1"/>
          </p:cNvSpPr>
          <p:nvPr/>
        </p:nvSpPr>
        <p:spPr>
          <a:xfrm xmlns:a="http://schemas.openxmlformats.org/drawingml/2006/main">
            <a:off x="685800" y="53911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Open profile and credential verification page</a:t>
            </a:r>
          </a:p>
        </p:txBody>
      </p:sp>
      <p:sp>
        <p:nvSpPr>
          <p:cNvPr id="13" name="">
            <a:extLst xmlns:a="http://schemas.openxmlformats.org/drawingml/2006/main">
              <a:ext uri="{FF2B5EF4-FFF2-40B4-BE49-F238E27FC236}">
                <a16:creationId xmlns:a16="http://schemas.microsoft.com/office/drawing/2014/main" id="{94828831-AD24-47A8-8C6F-CE9E7AE6C70F}"/>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4" name="">
            <a:extLst xmlns:a="http://schemas.openxmlformats.org/drawingml/2006/main">
              <a:ext uri="{FF2B5EF4-FFF2-40B4-BE49-F238E27FC236}">
                <a16:creationId xmlns:a16="http://schemas.microsoft.com/office/drawing/2014/main" id="{0A02686B-DF86-4265-B9DB-FE063BAD7A3B}"/>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Numbered storyboard of UI screens</a:t>
            </a:r>
          </a:p>
        </p:txBody>
      </p:sp>
      <p:sp>
        <p:nvSpPr>
          <p:cNvPr id="15" name="">
            <a:extLst xmlns:a="http://schemas.openxmlformats.org/drawingml/2006/main">
              <a:ext uri="{FF2B5EF4-FFF2-40B4-BE49-F238E27FC236}">
                <a16:creationId xmlns:a16="http://schemas.microsoft.com/office/drawing/2014/main" id="{1C241F56-D741-4DB2-898F-D2C36650ABEC}"/>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Live demo checklist with timing marks</a:t>
            </a:r>
          </a:p>
        </p:txBody>
      </p:sp>
      <p:sp>
        <p:nvSpPr>
          <p:cNvPr id="16" name="">
            <a:extLst xmlns:a="http://schemas.openxmlformats.org/drawingml/2006/main">
              <a:ext uri="{FF2B5EF4-FFF2-40B4-BE49-F238E27FC236}">
                <a16:creationId xmlns:a16="http://schemas.microsoft.com/office/drawing/2014/main" id="{5112358E-6C6F-4346-912C-2546573838F2}"/>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Fallback screenshot set for each critical step</a:t>
            </a:r>
          </a:p>
        </p:txBody>
      </p:sp>
      <p:sp>
        <p:nvSpPr>
          <p:cNvPr id="17" name="">
            <a:extLst xmlns:a="http://schemas.openxmlformats.org/drawingml/2006/main">
              <a:ext uri="{FF2B5EF4-FFF2-40B4-BE49-F238E27FC236}">
                <a16:creationId xmlns:a16="http://schemas.microsoft.com/office/drawing/2014/main" id="{A5FD5F2D-565C-441C-92E1-B5F24521A4F1}"/>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11 of 12</a:t>
            </a:r>
          </a:p>
        </p:txBody>
      </p:sp>
    </p:spTree>
    <p:extLst>
      <p:ext uri="{BB962C8B-B14F-4D97-AF65-F5344CB8AC3E}">
        <p14:creationId xmlns:p14="http://schemas.microsoft.com/office/powerpoint/2010/main" val="37175183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 name="slide-12-title">
            <a:extLst xmlns:a="http://schemas.openxmlformats.org/drawingml/2006/main">
              <a:ext uri="{FF2B5EF4-FFF2-40B4-BE49-F238E27FC236}">
                <a16:creationId xmlns:a16="http://schemas.microsoft.com/office/drawing/2014/main" id="{46262A60-2A96-4138-B369-CFDCCA9BC64D}"/>
              </a:ext>
            </a:extLst>
          </p:cNvPr>
          <p:cNvSpPr>
            <a:spLocks xmlns:a="http://schemas.openxmlformats.org/drawingml/2006/main" noGrp="1"/>
          </p:cNvSpPr>
          <p:nvPr/>
        </p:nvSpPr>
        <p:spPr>
          <a:xfrm xmlns:a="http://schemas.openxmlformats.org/drawingml/2006/main">
            <a:off x="685800" y="685800"/>
            <a:ext cx="169164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4200" b="1">
                <a:solidFill>
                  <a:srgbClr val="0F172A"/>
                </a:solidFill>
              </a:defRPr>
            </a:pPr>
            <a:r>
              <a:rPr sz="4200" b="1">
                <a:solidFill>
                  <a:srgbClr val="0F172A"/>
                </a:solidFill>
              </a:rPr>
              <a:t>Why It Matters</a:t>
            </a:r>
          </a:p>
        </p:txBody>
      </p:sp>
      <p:sp>
        <p:nvSpPr>
          <p:cNvPr id="2" name="slide-12-subtitle">
            <a:extLst xmlns:a="http://schemas.openxmlformats.org/drawingml/2006/main">
              <a:ext uri="{FF2B5EF4-FFF2-40B4-BE49-F238E27FC236}">
                <a16:creationId xmlns:a16="http://schemas.microsoft.com/office/drawing/2014/main" id="{1B66D206-C7A5-4392-AC63-9A593CCF4CA9}"/>
              </a:ext>
            </a:extLst>
          </p:cNvPr>
          <p:cNvSpPr>
            <a:spLocks xmlns:a="http://schemas.openxmlformats.org/drawingml/2006/main" noGrp="1"/>
          </p:cNvSpPr>
          <p:nvPr/>
        </p:nvSpPr>
        <p:spPr>
          <a:xfrm xmlns:a="http://schemas.openxmlformats.org/drawingml/2006/main">
            <a:off x="685800" y="1428750"/>
            <a:ext cx="5753100" cy="5334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2100">
                <a:solidFill>
                  <a:srgbClr val="334155"/>
                </a:solidFill>
              </a:defRPr>
            </a:pPr>
            <a:r>
              <a:rPr sz="2100">
                <a:solidFill>
                  <a:srgbClr val="334155"/>
                </a:solidFill>
              </a:rPr>
              <a:t>Archon is infrastructure for on-chain work economies</a:t>
            </a:r>
          </a:p>
        </p:txBody>
      </p:sp>
      <p:sp>
        <p:nvSpPr>
          <p:cNvPr id="3" name="slide-12-rule">
            <a:extLst xmlns:a="http://schemas.openxmlformats.org/drawingml/2006/main">
              <a:ext uri="{FF2B5EF4-FFF2-40B4-BE49-F238E27FC236}">
                <a16:creationId xmlns:a16="http://schemas.microsoft.com/office/drawing/2014/main" id="{1516727D-9042-49AE-9BE6-B39CBA4200C5}"/>
              </a:ext>
            </a:extLst>
          </p:cNvPr>
          <p:cNvSpPr>
            <a:spLocks xmlns:a="http://schemas.openxmlformats.org/drawingml/2006/main" noGrp="1"/>
          </p:cNvSpPr>
          <p:nvPr/>
        </p:nvSpPr>
        <p:spPr>
          <a:xfrm xmlns:a="http://schemas.openxmlformats.org/drawingml/2006/main">
            <a:off x="685800" y="2171700"/>
            <a:ext cx="2667000" cy="38100"/>
          </a:xfrm>
          <a:prstGeom xmlns:a="http://schemas.openxmlformats.org/drawingml/2006/main" prst="rect">
            <a:avLst/>
          </a:prstGeom>
          <a:solidFill xmlns:a="http://schemas.openxmlformats.org/drawingml/2006/main">
            <a:srgbClr val="0891B2"/>
          </a:solidFill>
          <a:ln xmlns:a="http://schemas.openxmlformats.org/drawingml/2006/main" w="0">
            <a:solidFill>
              <a:srgbClr val="0891B2"/>
            </a:solidFill>
            <a:prstDash val="solid"/>
          </a:ln>
        </p:spPr>
      </p:sp>
      <p:sp>
        <p:nvSpPr>
          <p:cNvPr id="4" name="">
            <a:extLst xmlns:a="http://schemas.openxmlformats.org/drawingml/2006/main">
              <a:ext uri="{FF2B5EF4-FFF2-40B4-BE49-F238E27FC236}">
                <a16:creationId xmlns:a16="http://schemas.microsoft.com/office/drawing/2014/main" id="{630A1C70-0F8E-473F-8D74-306C70E05D53}"/>
              </a:ext>
            </a:extLst>
          </p:cNvPr>
          <p:cNvSpPr>
            <a:spLocks xmlns:a="http://schemas.openxmlformats.org/drawingml/2006/main" noGrp="1"/>
          </p:cNvSpPr>
          <p:nvPr/>
        </p:nvSpPr>
        <p:spPr>
          <a:xfrm xmlns:a="http://schemas.openxmlformats.org/drawingml/2006/main">
            <a:off x="685800" y="2419350"/>
            <a:ext cx="100584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Key Points</a:t>
            </a:r>
          </a:p>
        </p:txBody>
      </p:sp>
      <p:sp>
        <p:nvSpPr>
          <p:cNvPr id="5" name="">
            <a:extLst xmlns:a="http://schemas.openxmlformats.org/drawingml/2006/main">
              <a:ext uri="{FF2B5EF4-FFF2-40B4-BE49-F238E27FC236}">
                <a16:creationId xmlns:a16="http://schemas.microsoft.com/office/drawing/2014/main" id="{56668BFA-4E26-4F15-9F33-77688EA686A3}"/>
              </a:ext>
            </a:extLst>
          </p:cNvPr>
          <p:cNvSpPr>
            <a:spLocks xmlns:a="http://schemas.openxmlformats.org/drawingml/2006/main" noGrp="1"/>
          </p:cNvSpPr>
          <p:nvPr/>
        </p:nvSpPr>
        <p:spPr>
          <a:xfrm xmlns:a="http://schemas.openxmlformats.org/drawingml/2006/main">
            <a:off x="685800" y="2781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Work becomes programmable and auditable</a:t>
            </a:r>
          </a:p>
        </p:txBody>
      </p:sp>
      <p:sp>
        <p:nvSpPr>
          <p:cNvPr id="6" name="">
            <a:extLst xmlns:a="http://schemas.openxmlformats.org/drawingml/2006/main">
              <a:ext uri="{FF2B5EF4-FFF2-40B4-BE49-F238E27FC236}">
                <a16:creationId xmlns:a16="http://schemas.microsoft.com/office/drawing/2014/main" id="{C9AF9366-D3CB-4443-AFB0-79B50B5EAD9B}"/>
              </a:ext>
            </a:extLst>
          </p:cNvPr>
          <p:cNvSpPr>
            <a:spLocks xmlns:a="http://schemas.openxmlformats.org/drawingml/2006/main" noGrp="1"/>
          </p:cNvSpPr>
          <p:nvPr/>
        </p:nvSpPr>
        <p:spPr>
          <a:xfrm xmlns:a="http://schemas.openxmlformats.org/drawingml/2006/main">
            <a:off x="685800" y="31623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Evaluation becomes an economic activity, not hidden labor</a:t>
            </a:r>
          </a:p>
        </p:txBody>
      </p:sp>
      <p:sp>
        <p:nvSpPr>
          <p:cNvPr id="7" name="">
            <a:extLst xmlns:a="http://schemas.openxmlformats.org/drawingml/2006/main">
              <a:ext uri="{FF2B5EF4-FFF2-40B4-BE49-F238E27FC236}">
                <a16:creationId xmlns:a16="http://schemas.microsoft.com/office/drawing/2014/main" id="{DD3BDB5B-93F1-419F-8547-EF29FB5BA11D}"/>
              </a:ext>
            </a:extLst>
          </p:cNvPr>
          <p:cNvSpPr>
            <a:spLocks xmlns:a="http://schemas.openxmlformats.org/drawingml/2006/main" noGrp="1"/>
          </p:cNvSpPr>
          <p:nvPr/>
        </p:nvSpPr>
        <p:spPr>
          <a:xfrm xmlns:a="http://schemas.openxmlformats.org/drawingml/2006/main">
            <a:off x="685800" y="3524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Reputation becomes verifiable and portable</a:t>
            </a:r>
          </a:p>
        </p:txBody>
      </p:sp>
      <p:sp>
        <p:nvSpPr>
          <p:cNvPr id="8" name="">
            <a:extLst xmlns:a="http://schemas.openxmlformats.org/drawingml/2006/main">
              <a:ext uri="{FF2B5EF4-FFF2-40B4-BE49-F238E27FC236}">
                <a16:creationId xmlns:a16="http://schemas.microsoft.com/office/drawing/2014/main" id="{C7A2972D-59E0-44CA-B075-FC6B8E2AD091}"/>
              </a:ext>
            </a:extLst>
          </p:cNvPr>
          <p:cNvSpPr>
            <a:spLocks xmlns:a="http://schemas.openxmlformats.org/drawingml/2006/main" noGrp="1"/>
          </p:cNvSpPr>
          <p:nvPr/>
        </p:nvSpPr>
        <p:spPr>
          <a:xfrm xmlns:a="http://schemas.openxmlformats.org/drawingml/2006/main">
            <a:off x="685800" y="390525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Agents can participate under accountable market rules</a:t>
            </a:r>
          </a:p>
        </p:txBody>
      </p:sp>
      <p:sp>
        <p:nvSpPr>
          <p:cNvPr id="9" name="">
            <a:extLst xmlns:a="http://schemas.openxmlformats.org/drawingml/2006/main">
              <a:ext uri="{FF2B5EF4-FFF2-40B4-BE49-F238E27FC236}">
                <a16:creationId xmlns:a16="http://schemas.microsoft.com/office/drawing/2014/main" id="{5D47E97E-EE40-4395-9A4A-086FBBCFBF63}"/>
              </a:ext>
            </a:extLst>
          </p:cNvPr>
          <p:cNvSpPr>
            <a:spLocks xmlns:a="http://schemas.openxmlformats.org/drawingml/2006/main" noGrp="1"/>
          </p:cNvSpPr>
          <p:nvPr/>
        </p:nvSpPr>
        <p:spPr>
          <a:xfrm xmlns:a="http://schemas.openxmlformats.org/drawingml/2006/main">
            <a:off x="685800" y="4267200"/>
            <a:ext cx="10058400" cy="2476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75">
                <a:solidFill>
                  <a:srgbClr val="1F2937"/>
                </a:solidFill>
              </a:defRPr>
            </a:pPr>
            <a:r>
              <a:rPr sz="1875">
                <a:solidFill>
                  <a:srgbClr val="1F2937"/>
                </a:solidFill>
              </a:rPr>
              <a:t>• Archon enables credible, scalable coordination for modern work</a:t>
            </a:r>
          </a:p>
        </p:txBody>
      </p:sp>
      <p:sp>
        <p:nvSpPr>
          <p:cNvPr id="10" name="">
            <a:extLst xmlns:a="http://schemas.openxmlformats.org/drawingml/2006/main">
              <a:ext uri="{FF2B5EF4-FFF2-40B4-BE49-F238E27FC236}">
                <a16:creationId xmlns:a16="http://schemas.microsoft.com/office/drawing/2014/main" id="{F2BB67B5-2F21-4BDB-84D1-F9A56A8DA6ED}"/>
              </a:ext>
            </a:extLst>
          </p:cNvPr>
          <p:cNvSpPr>
            <a:spLocks xmlns:a="http://schemas.openxmlformats.org/drawingml/2006/main" noGrp="1"/>
          </p:cNvSpPr>
          <p:nvPr/>
        </p:nvSpPr>
        <p:spPr>
          <a:xfrm xmlns:a="http://schemas.openxmlformats.org/drawingml/2006/main">
            <a:off x="11125200" y="2419350"/>
            <a:ext cx="6477000" cy="22860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800" b="1">
                <a:solidFill>
                  <a:srgbClr val="0891B2"/>
                </a:solidFill>
              </a:defRPr>
            </a:pPr>
            <a:r>
              <a:rPr sz="1800" b="1">
                <a:solidFill>
                  <a:srgbClr val="0891B2"/>
                </a:solidFill>
              </a:rPr>
              <a:t>Suggested Visual</a:t>
            </a:r>
          </a:p>
        </p:txBody>
      </p:sp>
      <p:sp>
        <p:nvSpPr>
          <p:cNvPr id="11" name="">
            <a:extLst xmlns:a="http://schemas.openxmlformats.org/drawingml/2006/main">
              <a:ext uri="{FF2B5EF4-FFF2-40B4-BE49-F238E27FC236}">
                <a16:creationId xmlns:a16="http://schemas.microsoft.com/office/drawing/2014/main" id="{8F3F1F03-148A-4F04-933E-83BC7A3519E9}"/>
              </a:ext>
            </a:extLst>
          </p:cNvPr>
          <p:cNvSpPr>
            <a:spLocks xmlns:a="http://schemas.openxmlformats.org/drawingml/2006/main" noGrp="1"/>
          </p:cNvSpPr>
          <p:nvPr/>
        </p:nvSpPr>
        <p:spPr>
          <a:xfrm xmlns:a="http://schemas.openxmlformats.org/drawingml/2006/main">
            <a:off x="11125200" y="27622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Closing value triangle: Work, Evaluation, Reputation</a:t>
            </a:r>
          </a:p>
        </p:txBody>
      </p:sp>
      <p:sp>
        <p:nvSpPr>
          <p:cNvPr id="12" name="">
            <a:extLst xmlns:a="http://schemas.openxmlformats.org/drawingml/2006/main">
              <a:ext uri="{FF2B5EF4-FFF2-40B4-BE49-F238E27FC236}">
                <a16:creationId xmlns:a16="http://schemas.microsoft.com/office/drawing/2014/main" id="{5C913B72-4ACD-40BB-A62D-528FEC2DF0AB}"/>
              </a:ext>
            </a:extLst>
          </p:cNvPr>
          <p:cNvSpPr>
            <a:spLocks xmlns:a="http://schemas.openxmlformats.org/drawingml/2006/main" noGrp="1"/>
          </p:cNvSpPr>
          <p:nvPr/>
        </p:nvSpPr>
        <p:spPr>
          <a:xfrm xmlns:a="http://schemas.openxmlformats.org/drawingml/2006/main">
            <a:off x="11125200" y="308610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Ecosystem view: creators, contributors, agents, communities</a:t>
            </a:r>
          </a:p>
        </p:txBody>
      </p:sp>
      <p:sp>
        <p:nvSpPr>
          <p:cNvPr id="13" name="">
            <a:extLst xmlns:a="http://schemas.openxmlformats.org/drawingml/2006/main">
              <a:ext uri="{FF2B5EF4-FFF2-40B4-BE49-F238E27FC236}">
                <a16:creationId xmlns:a16="http://schemas.microsoft.com/office/drawing/2014/main" id="{1D7884FF-E9F4-407F-8A99-BFE0A5660176}"/>
              </a:ext>
            </a:extLst>
          </p:cNvPr>
          <p:cNvSpPr>
            <a:spLocks xmlns:a="http://schemas.openxmlformats.org/drawingml/2006/main" noGrp="1"/>
          </p:cNvSpPr>
          <p:nvPr/>
        </p:nvSpPr>
        <p:spPr>
          <a:xfrm xmlns:a="http://schemas.openxmlformats.org/drawingml/2006/main">
            <a:off x="11125200" y="3409950"/>
            <a:ext cx="6477000" cy="2095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650">
                <a:solidFill>
                  <a:srgbClr val="1F2937"/>
                </a:solidFill>
              </a:defRPr>
            </a:pPr>
            <a:r>
              <a:rPr sz="1650">
                <a:solidFill>
                  <a:srgbClr val="1F2937"/>
                </a:solidFill>
              </a:rPr>
              <a:t>• Call-to-action strip: pilot, integrate, and scale</a:t>
            </a:r>
          </a:p>
        </p:txBody>
      </p:sp>
      <p:sp>
        <p:nvSpPr>
          <p:cNvPr id="14" name="">
            <a:extLst xmlns:a="http://schemas.openxmlformats.org/drawingml/2006/main">
              <a:ext uri="{FF2B5EF4-FFF2-40B4-BE49-F238E27FC236}">
                <a16:creationId xmlns:a16="http://schemas.microsoft.com/office/drawing/2014/main" id="{18F79C87-2F1E-46B4-B72A-F79B722A4B0B}"/>
              </a:ext>
            </a:extLst>
          </p:cNvPr>
          <p:cNvSpPr>
            <a:spLocks xmlns:a="http://schemas.openxmlformats.org/drawingml/2006/main" noGrp="1"/>
          </p:cNvSpPr>
          <p:nvPr/>
        </p:nvSpPr>
        <p:spPr>
          <a:xfrm xmlns:a="http://schemas.openxmlformats.org/drawingml/2006/main">
            <a:off x="685800" y="9467850"/>
            <a:ext cx="16916400" cy="133350"/>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pPr>
              <a:defRPr sz="1050">
                <a:solidFill>
                  <a:srgbClr val="64748B"/>
                </a:solidFill>
              </a:defRPr>
            </a:pPr>
            <a:r>
              <a:rPr sz="1050">
                <a:solidFill>
                  <a:srgbClr val="64748B"/>
                </a:solidFill>
              </a:rPr>
              <a:t>Archon Demo Deck  |  Slide 12 of 12</a:t>
            </a:r>
          </a:p>
        </p:txBody>
      </p:sp>
    </p:spTree>
    <p:extLst>
      <p:ext uri="{BB962C8B-B14F-4D97-AF65-F5344CB8AC3E}">
        <p14:creationId xmlns:p14="http://schemas.microsoft.com/office/powerpoint/2010/main" val="15482214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2026-04-24T22:46:20.9740000Z</dcterms:created>
  <dcterms:modified xsi:type="dcterms:W3CDTF">2026-04-24T22:46:20.9750000Z</dcterms:modified>
</coreProperties>
</file>